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 afternoon respected professors, evaluators, and my dear peers.</a:t>
            </a:r>
          </a:p>
          <a:p>
            <a:r>
              <a:t>My name is RAATE NOMIKA, bearing roll number 24X05A0533, Section CSE-E from the Department of Computer Science &amp; Engineering at Narsimha Reddy Engineering College (NRCM).</a:t>
            </a:r>
          </a:p>
          <a:p>
            <a:r>
              <a:t>Today, I am proud to present our project: INTERNHUB — a Full-Stack MERN Internship Discovery &amp; Recruitment Platform.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professors and peers, every year millions of college students struggle to find verified internship opportunities. Most job portals are cluttered with senior roles, and students face a 'black hole' where they never know whether their resume was reviewed, shortlisted, or rejected. On the other hand, employers spend hours manually sorting through unorganized emails and resumes. To eliminate this gap, we built InternHub—a dedicated, transparent, and structured platform tailored specifically for college students and recruiters."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"InternHub is an end-to-end web portal built on the modern MERN stack. Our primary objective is to make the hiring workflow effortless. Students can discover relevant opportunities with advanced filters and track their application status live. Employers can post openings, review applicants, and update hiring statuses with a single click. Meanwhile, the administrator ensures platform integrity and data authenticity through an admin dashboard."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"Coming to the technical architecture, our system follows a decoupled Client-Server model. On the frontend, we use React 18 bundled with Vite for fast performance, responsive state management, and a clean user experience. The backend is powered by Node.js and Express.js, providing a scalable REST API. We use MongoDB as our database with Mongoose ODM to handle dynamic documents like resumes, applications, and user profiles."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user segmentation are critical in our design. We implemented Role-Based Access Control, dividing users into three distinct roles: Students, Employers, and Admins. Each role has protected routes and dedicated dashboards. A student cannot access employer tools, and an employer cannot alter administrative settings. This ensures data segregation and a clutter-free interface tailored to each user's specific tasks."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core functional modules. First is our Smart Search and Filter engine, allowing students to quickly filter roles by location, stipend, skill set, and job type. Second is the one-click application submission where students attach their profiles and resumes. Third is the real-time application pipeline, giving candidates full transparency on whether their profile is in review or shortlisted. For employers, we built an intuitive candidate evaluation board to streamline decisions."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database model in MongoDB is designed for high read throughput and relational integrity. We maintain collections for Users, Internships, and Applications. The Applications schema acts as a junction linking the Student ID to the Internship ID with status states such as 'Applied', 'Under Review', 'Shortlisted', and 'Rejected'. We utilized database indexing on frequent search keys like location and skills to ensure fast response times even as data grows."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implemented at every layer of InternHub. User passwords are encrypted using bcrypt hashing before storage. Authentication is handled via stateless JSON Web Tokens (JWT) verified on every protected API call. To safeguard the server, we added security headers using Helmet, strict CORS policies, and rate limiters to protect against brute-force login attempts and DDoS attacks."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frontend, we focused heavily on UX and responsiveness. The portal adapts smoothly across mobile devices, tablets, and desktops. Using React's modular component structure, we created reusable cards, modals, and tables. We also integrated client-side route guards so unauthenticated users are redirected automatically. Additionally, we implemented SEO best practices and fast asset loading for optimal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reliability, we wrote comprehensive integration and end-to-end test suites verifying the entire application lifecycle—from user registration and job posting to application submission. We also containerized the application using Docker and Docker Compose, ensuring zero environment discrepancies between development and production. The live frontend is deployed on Netlify, connected to our cloud-hosted backend."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InternHub solves a real-world problem by providing a modern, transparent, and secure hiring bridge between students and recruiters. In future iterations, we plan to integrate AI-driven resume scoring to match candidates automatically with relevant jobs, real-time messaging, and direct integrations with college placement cells. Thank you, professors. We are now open to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327648"/>
            <a:ext cx="10728655" cy="18288"/>
          </a:xfrm>
          <a:prstGeom prst="rect">
            <a:avLst/>
          </a:prstGeom>
          <a:solidFill>
            <a:srgbClr val="BFDBFE"/>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64224"/>
            <a:ext cx="7772400" cy="347472"/>
          </a:xfrm>
          <a:prstGeom prst="rect">
            <a:avLst/>
          </a:prstGeom>
          <a:noFill/>
        </p:spPr>
        <p:txBody>
          <a:bodyPr wrap="square">
            <a:spAutoFit/>
          </a:bodyPr>
          <a:lstStyle/>
          <a:p>
            <a:pPr>
              <a:defRPr sz="1000">
                <a:solidFill>
                  <a:srgbClr val="334155"/>
                </a:solidFill>
                <a:latin typeface="Segoe UI"/>
              </a:defRPr>
            </a:pPr>
            <a:r>
              <a:t>INTERNHUB  •  Full-Stack Internship &amp; Recruitment Platform  •  NRCM / CSE-E</a:t>
            </a:r>
          </a:p>
        </p:txBody>
      </p:sp>
      <p:sp>
        <p:nvSpPr>
          <p:cNvPr id="6" name="TextBox 5"/>
          <p:cNvSpPr txBox="1"/>
          <p:nvPr/>
        </p:nvSpPr>
        <p:spPr>
          <a:xfrm>
            <a:off x="9601200" y="6364224"/>
            <a:ext cx="1858975" cy="347472"/>
          </a:xfrm>
          <a:prstGeom prst="rect">
            <a:avLst/>
          </a:prstGeom>
          <a:noFill/>
        </p:spPr>
        <p:txBody>
          <a:bodyPr wrap="none">
            <a:spAutoFit/>
          </a:bodyPr>
          <a:lstStyle/>
          <a:p>
            <a:pPr algn="r">
              <a:defRPr sz="1050" b="1">
                <a:solidFill>
                  <a:srgbClr val="1E3A8A"/>
                </a:solidFill>
                <a:latin typeface="Segoe UI"/>
              </a:defRPr>
            </a:pPr>
            <a:r>
              <a:t>Slide 1 of 11</a:t>
            </a:r>
          </a:p>
        </p:txBody>
      </p:sp>
      <p:sp>
        <p:nvSpPr>
          <p:cNvPr id="7" name="Rounded Rectangle 6"/>
          <p:cNvSpPr/>
          <p:nvPr/>
        </p:nvSpPr>
        <p:spPr>
          <a:xfrm>
            <a:off x="731520" y="384048"/>
            <a:ext cx="10728655" cy="841248"/>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E3A8A"/>
                </a:solidFill>
                <a:latin typeface="Segoe UI"/>
              </a:defRPr>
            </a:pPr>
            <a:r>
              <a:t>NARSIMHA REDDY ENGINEERING COLLEGE (NRCM)</a:t>
            </a:r>
          </a:p>
          <a:p>
            <a:pPr algn="ctr">
              <a:spcBef>
                <a:spcPts val="300"/>
              </a:spcBef>
              <a:defRPr sz="1100" b="1">
                <a:solidFill>
                  <a:srgbClr val="3B82F6"/>
                </a:solidFill>
                <a:latin typeface="Segoe UI"/>
              </a:defRPr>
            </a:pPr>
            <a:r>
              <a:t>DEPARTMENT OF COMPUTER SCIENCE &amp; ENGINEERING  •  SUMMER INTERNSHIP PROJECT</a:t>
            </a:r>
          </a:p>
        </p:txBody>
      </p:sp>
      <p:sp>
        <p:nvSpPr>
          <p:cNvPr id="8" name="Rounded Rectangle 7"/>
          <p:cNvSpPr/>
          <p:nvPr/>
        </p:nvSpPr>
        <p:spPr>
          <a:xfrm>
            <a:off x="731520" y="1353312"/>
            <a:ext cx="10728655" cy="1691640"/>
          </a:xfrm>
          <a:prstGeom prst="roundRect">
            <a:avLst/>
          </a:prstGeom>
          <a:solidFill>
            <a:srgbClr val="1E3A8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000" b="1">
                <a:solidFill>
                  <a:srgbClr val="FFFFFF"/>
                </a:solidFill>
                <a:latin typeface="Segoe UI"/>
              </a:defRPr>
            </a:pPr>
            <a:r>
              <a:t>INTERNHUB</a:t>
            </a:r>
          </a:p>
          <a:p>
            <a:pPr algn="ctr">
              <a:spcBef>
                <a:spcPts val="300"/>
              </a:spcBef>
              <a:defRPr sz="1500" b="1">
                <a:solidFill>
                  <a:srgbClr val="DBEAFE"/>
                </a:solidFill>
                <a:latin typeface="Segoe UI"/>
              </a:defRPr>
            </a:pPr>
            <a:r>
              <a:t>Internship Discovery &amp; Recruitment Platform</a:t>
            </a:r>
          </a:p>
          <a:p>
            <a:pPr algn="ctr">
              <a:spcBef>
                <a:spcPts val="400"/>
              </a:spcBef>
              <a:defRPr sz="1150">
                <a:solidFill>
                  <a:srgbClr val="BFDBFE"/>
                </a:solidFill>
                <a:latin typeface="Segoe UI"/>
              </a:defRPr>
            </a:pPr>
            <a:r>
              <a:t>A Full-Stack Role-Based Platform Connecting Students, Recruiters &amp; Administrators</a:t>
            </a:r>
          </a:p>
          <a:p>
            <a:pPr algn="ctr">
              <a:spcBef>
                <a:spcPts val="600"/>
              </a:spcBef>
              <a:defRPr sz="1100" b="1">
                <a:solidFill>
                  <a:srgbClr val="FEF08A"/>
                </a:solidFill>
                <a:latin typeface="Segoe UI"/>
              </a:defRPr>
            </a:pPr>
            <a:r>
              <a:t>⚡ MongoDB  |  Express.js  |  React 18  |  Node.js  |  Docker  |  JWT &amp; RBAC</a:t>
            </a:r>
          </a:p>
        </p:txBody>
      </p:sp>
      <p:sp>
        <p:nvSpPr>
          <p:cNvPr id="9" name="Rounded Rectangle 8"/>
          <p:cNvSpPr/>
          <p:nvPr/>
        </p:nvSpPr>
        <p:spPr>
          <a:xfrm>
            <a:off x="731520" y="3182112"/>
            <a:ext cx="5230368" cy="297180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B82F6"/>
                </a:solidFill>
                <a:latin typeface="Segoe UI"/>
              </a:defRPr>
            </a:pPr>
            <a:r>
              <a:t>PRESENTED BY</a:t>
            </a:r>
          </a:p>
          <a:p>
            <a:pPr>
              <a:spcAft>
                <a:spcPts val="400"/>
              </a:spcAft>
              <a:defRPr sz="1650" b="1">
                <a:solidFill>
                  <a:srgbClr val="1E3A8A"/>
                </a:solidFill>
                <a:latin typeface="Segoe UI"/>
              </a:defRPr>
            </a:pPr>
            <a:r>
              <a:t>Candidate Details</a:t>
            </a:r>
          </a:p>
          <a:p>
            <a:pPr>
              <a:spcAft>
                <a:spcPts val="200"/>
              </a:spcAft>
              <a:defRPr sz="1150" b="1">
                <a:solidFill>
                  <a:srgbClr val="1E3A8A"/>
                </a:solidFill>
                <a:latin typeface="Segoe UI"/>
              </a:defRPr>
            </a:pPr>
            <a:r>
              <a:t>•  Student Name: </a:t>
            </a:r>
            <a:r>
              <a:rPr b="0">
                <a:solidFill>
                  <a:srgbClr val="0F172A"/>
                </a:solidFill>
              </a:rPr>
              <a:t>RAATE NOMIKA</a:t>
            </a:r>
          </a:p>
          <a:p>
            <a:pPr>
              <a:spcAft>
                <a:spcPts val="200"/>
              </a:spcAft>
              <a:defRPr sz="1150" b="1">
                <a:solidFill>
                  <a:srgbClr val="1E3A8A"/>
                </a:solidFill>
                <a:latin typeface="Segoe UI"/>
              </a:defRPr>
            </a:pPr>
            <a:r>
              <a:t>•  Roll Number: </a:t>
            </a:r>
            <a:r>
              <a:rPr b="0">
                <a:solidFill>
                  <a:srgbClr val="0F172A"/>
                </a:solidFill>
              </a:rPr>
              <a:t>24X05A0533</a:t>
            </a:r>
          </a:p>
          <a:p>
            <a:pPr>
              <a:spcAft>
                <a:spcPts val="200"/>
              </a:spcAft>
              <a:defRPr sz="1150" b="1">
                <a:solidFill>
                  <a:srgbClr val="1E3A8A"/>
                </a:solidFill>
                <a:latin typeface="Segoe UI"/>
              </a:defRPr>
            </a:pPr>
            <a:r>
              <a:t>•  Branch: </a:t>
            </a:r>
            <a:r>
              <a:rPr b="0">
                <a:solidFill>
                  <a:srgbClr val="0F172A"/>
                </a:solidFill>
              </a:rPr>
              <a:t>B.Tech — Computer Science &amp; Engineering</a:t>
            </a:r>
          </a:p>
          <a:p>
            <a:pPr>
              <a:spcAft>
                <a:spcPts val="200"/>
              </a:spcAft>
              <a:defRPr sz="1150" b="1">
                <a:solidFill>
                  <a:srgbClr val="1E3A8A"/>
                </a:solidFill>
                <a:latin typeface="Segoe UI"/>
              </a:defRPr>
            </a:pPr>
            <a:r>
              <a:t>•  Section: </a:t>
            </a:r>
            <a:r>
              <a:rPr b="0">
                <a:solidFill>
                  <a:srgbClr val="0F172A"/>
                </a:solidFill>
              </a:rPr>
              <a:t>CSE-E</a:t>
            </a:r>
          </a:p>
          <a:p>
            <a:pPr>
              <a:spcAft>
                <a:spcPts val="200"/>
              </a:spcAft>
              <a:defRPr sz="1150" b="1">
                <a:solidFill>
                  <a:srgbClr val="1E3A8A"/>
                </a:solidFill>
                <a:latin typeface="Segoe UI"/>
              </a:defRPr>
            </a:pPr>
            <a:r>
              <a:t>•  Academic Year: </a:t>
            </a:r>
            <a:r>
              <a:rPr b="0">
                <a:solidFill>
                  <a:srgbClr val="0F172A"/>
                </a:solidFill>
              </a:rPr>
              <a:t>2023 – 2027</a:t>
            </a:r>
          </a:p>
        </p:txBody>
      </p:sp>
      <p:sp>
        <p:nvSpPr>
          <p:cNvPr id="10" name="Rounded Rectangle 9"/>
          <p:cNvSpPr/>
          <p:nvPr/>
        </p:nvSpPr>
        <p:spPr>
          <a:xfrm>
            <a:off x="6227064" y="3182112"/>
            <a:ext cx="5230368" cy="297180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B82F6"/>
                </a:solidFill>
                <a:latin typeface="Segoe UI"/>
              </a:defRPr>
            </a:pPr>
            <a:r>
              <a:t>PROJECT SPECIFICATION</a:t>
            </a:r>
          </a:p>
          <a:p>
            <a:pPr>
              <a:spcAft>
                <a:spcPts val="400"/>
              </a:spcAft>
              <a:defRPr sz="1650" b="1">
                <a:solidFill>
                  <a:srgbClr val="1E3A8A"/>
                </a:solidFill>
                <a:latin typeface="Segoe UI"/>
              </a:defRPr>
            </a:pPr>
            <a:r>
              <a:t>Academic &amp; Technical Scope</a:t>
            </a:r>
          </a:p>
          <a:p>
            <a:pPr>
              <a:spcAft>
                <a:spcPts val="200"/>
              </a:spcAft>
              <a:defRPr sz="1150" b="1">
                <a:solidFill>
                  <a:srgbClr val="1E3A8A"/>
                </a:solidFill>
                <a:latin typeface="Segoe UI"/>
              </a:defRPr>
            </a:pPr>
            <a:r>
              <a:t>•  Project Domain: </a:t>
            </a:r>
            <a:r>
              <a:rPr b="0">
                <a:solidFill>
                  <a:srgbClr val="0F172A"/>
                </a:solidFill>
              </a:rPr>
              <a:t>Full-Stack Web Development &amp; Cloud Computing</a:t>
            </a:r>
          </a:p>
          <a:p>
            <a:pPr>
              <a:spcAft>
                <a:spcPts val="200"/>
              </a:spcAft>
              <a:defRPr sz="1150" b="1">
                <a:solidFill>
                  <a:srgbClr val="1E3A8A"/>
                </a:solidFill>
                <a:latin typeface="Segoe UI"/>
              </a:defRPr>
            </a:pPr>
            <a:r>
              <a:t>•  Architecture: </a:t>
            </a:r>
            <a:r>
              <a:rPr b="0">
                <a:solidFill>
                  <a:srgbClr val="0F172A"/>
                </a:solidFill>
              </a:rPr>
              <a:t>MERN 3-Tier Decoupled Client-Server Model</a:t>
            </a:r>
          </a:p>
          <a:p>
            <a:pPr>
              <a:spcAft>
                <a:spcPts val="200"/>
              </a:spcAft>
              <a:defRPr sz="1150" b="1">
                <a:solidFill>
                  <a:srgbClr val="1E3A8A"/>
                </a:solidFill>
                <a:latin typeface="Segoe UI"/>
              </a:defRPr>
            </a:pPr>
            <a:r>
              <a:t>•  Core Capability: </a:t>
            </a:r>
            <a:r>
              <a:rPr b="0">
                <a:solidFill>
                  <a:srgbClr val="0F172A"/>
                </a:solidFill>
              </a:rPr>
              <a:t>Role-Based Access Control (Student / Recruiter / Admin)</a:t>
            </a:r>
          </a:p>
          <a:p>
            <a:pPr>
              <a:spcAft>
                <a:spcPts val="200"/>
              </a:spcAft>
              <a:defRPr sz="1150" b="1">
                <a:solidFill>
                  <a:srgbClr val="1E3A8A"/>
                </a:solidFill>
                <a:latin typeface="Segoe UI"/>
              </a:defRPr>
            </a:pPr>
            <a:r>
              <a:t>•  Deployment: </a:t>
            </a:r>
            <a:r>
              <a:rPr b="0">
                <a:solidFill>
                  <a:srgbClr val="0F172A"/>
                </a:solidFill>
              </a:rPr>
              <a:t>Dockerized Containerization &amp; Netlify Cloud Hosting</a:t>
            </a:r>
          </a:p>
          <a:p>
            <a:pPr>
              <a:spcAft>
                <a:spcPts val="200"/>
              </a:spcAft>
              <a:defRPr sz="1150" b="1">
                <a:solidFill>
                  <a:srgbClr val="1E3A8A"/>
                </a:solidFill>
                <a:latin typeface="Segoe UI"/>
              </a:defRPr>
            </a:pPr>
            <a:r>
              <a:t>•  Testing: </a:t>
            </a:r>
            <a:r>
              <a:rPr b="0">
                <a:solidFill>
                  <a:srgbClr val="0F172A"/>
                </a:solidFill>
              </a:rPr>
              <a:t>Automated E2E &amp; API Integration Test Lifecycle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9FF"/>
          </a:solidFill>
          <a:ln>
            <a:solidFill>
              <a:srgbClr val="F0F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327648"/>
            <a:ext cx="10728655" cy="18288"/>
          </a:xfrm>
          <a:prstGeom prst="rect">
            <a:avLst/>
          </a:prstGeom>
          <a:solidFill>
            <a:srgbClr val="BAE6FD"/>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64224"/>
            <a:ext cx="7772400" cy="347472"/>
          </a:xfrm>
          <a:prstGeom prst="rect">
            <a:avLst/>
          </a:prstGeom>
          <a:noFill/>
        </p:spPr>
        <p:txBody>
          <a:bodyPr wrap="square">
            <a:spAutoFit/>
          </a:bodyPr>
          <a:lstStyle/>
          <a:p>
            <a:pPr>
              <a:defRPr sz="1000">
                <a:solidFill>
                  <a:srgbClr val="334155"/>
                </a:solidFill>
                <a:latin typeface="Segoe UI"/>
              </a:defRPr>
            </a:pPr>
            <a:r>
              <a:t>INTERNHUB  •  Full-Stack Internship &amp; Recruitment Platform  •  NRCM / CSE-E</a:t>
            </a:r>
          </a:p>
        </p:txBody>
      </p:sp>
      <p:sp>
        <p:nvSpPr>
          <p:cNvPr id="6" name="TextBox 5"/>
          <p:cNvSpPr txBox="1"/>
          <p:nvPr/>
        </p:nvSpPr>
        <p:spPr>
          <a:xfrm>
            <a:off x="9601200" y="6364224"/>
            <a:ext cx="1858975" cy="347472"/>
          </a:xfrm>
          <a:prstGeom prst="rect">
            <a:avLst/>
          </a:prstGeom>
          <a:noFill/>
        </p:spPr>
        <p:txBody>
          <a:bodyPr wrap="none">
            <a:spAutoFit/>
          </a:bodyPr>
          <a:lstStyle/>
          <a:p>
            <a:pPr algn="r">
              <a:defRPr sz="1050" b="1">
                <a:solidFill>
                  <a:srgbClr val="0284C7"/>
                </a:solidFill>
                <a:latin typeface="Segoe UI"/>
              </a:defRPr>
            </a:pPr>
            <a:r>
              <a:t>Slide 2 of 11</a:t>
            </a:r>
          </a:p>
        </p:txBody>
      </p:sp>
      <p:sp>
        <p:nvSpPr>
          <p:cNvPr id="7" name="Rounded Rectangle 6"/>
          <p:cNvSpPr/>
          <p:nvPr/>
        </p:nvSpPr>
        <p:spPr>
          <a:xfrm>
            <a:off x="731520" y="384048"/>
            <a:ext cx="1188720" cy="320040"/>
          </a:xfrm>
          <a:prstGeom prst="roundRect">
            <a:avLst/>
          </a:prstGeom>
          <a:solidFill>
            <a:srgbClr val="E0F2FE"/>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284C7"/>
                </a:solidFill>
                <a:latin typeface="Segoe UI"/>
              </a:defRPr>
            </a:pPr>
            <a:r>
              <a:t>SLIDE 02</a:t>
            </a:r>
          </a:p>
        </p:txBody>
      </p:sp>
      <p:sp>
        <p:nvSpPr>
          <p:cNvPr id="8" name="TextBox 7"/>
          <p:cNvSpPr txBox="1"/>
          <p:nvPr/>
        </p:nvSpPr>
        <p:spPr>
          <a:xfrm>
            <a:off x="2057400" y="292608"/>
            <a:ext cx="9326880" cy="777240"/>
          </a:xfrm>
          <a:prstGeom prst="rect">
            <a:avLst/>
          </a:prstGeom>
          <a:noFill/>
        </p:spPr>
        <p:txBody>
          <a:bodyPr wrap="square">
            <a:spAutoFit/>
          </a:bodyPr>
          <a:lstStyle/>
          <a:p>
            <a:pPr>
              <a:defRPr sz="2200" b="1">
                <a:solidFill>
                  <a:srgbClr val="0284C7"/>
                </a:solidFill>
                <a:latin typeface="Segoe UI"/>
              </a:defRPr>
            </a:pPr>
            <a:r>
              <a:t>Problem Statement &amp; Motivation</a:t>
            </a:r>
          </a:p>
          <a:p>
            <a:pPr>
              <a:spcBef>
                <a:spcPts val="200"/>
              </a:spcBef>
              <a:defRPr sz="1200">
                <a:solidFill>
                  <a:srgbClr val="334155"/>
                </a:solidFill>
                <a:latin typeface="Segoe UI"/>
              </a:defRPr>
            </a:pPr>
            <a:r>
              <a:t>Key challenges in existing student recruitment methods and why InternHub was built</a:t>
            </a:r>
          </a:p>
        </p:txBody>
      </p:sp>
      <p:sp>
        <p:nvSpPr>
          <p:cNvPr id="9" name="Rounded Rectangle 8"/>
          <p:cNvSpPr/>
          <p:nvPr/>
        </p:nvSpPr>
        <p:spPr>
          <a:xfrm>
            <a:off x="731520" y="1207008"/>
            <a:ext cx="5230368" cy="2084831"/>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87552" y="1408176"/>
            <a:ext cx="530352" cy="347472"/>
          </a:xfrm>
          <a:prstGeom prst="roundRect">
            <a:avLst/>
          </a:prstGeom>
          <a:solidFill>
            <a:srgbClr val="E0F2FE"/>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284C7"/>
                </a:solidFill>
                <a:latin typeface="Segoe UI"/>
              </a:defRPr>
            </a:pPr>
            <a:r>
              <a:t>01</a:t>
            </a:r>
          </a:p>
        </p:txBody>
      </p:sp>
      <p:sp>
        <p:nvSpPr>
          <p:cNvPr id="11" name="TextBox 10"/>
          <p:cNvSpPr txBox="1"/>
          <p:nvPr/>
        </p:nvSpPr>
        <p:spPr>
          <a:xfrm>
            <a:off x="1664208" y="1353312"/>
            <a:ext cx="4087368" cy="1856231"/>
          </a:xfrm>
          <a:prstGeom prst="rect">
            <a:avLst/>
          </a:prstGeom>
          <a:noFill/>
        </p:spPr>
        <p:txBody>
          <a:bodyPr wrap="square">
            <a:spAutoFit/>
          </a:bodyPr>
          <a:lstStyle/>
          <a:p>
            <a:pPr>
              <a:defRPr sz="1450" b="1">
                <a:solidFill>
                  <a:srgbClr val="0284C7"/>
                </a:solidFill>
                <a:latin typeface="Segoe UI"/>
              </a:defRPr>
            </a:pPr>
            <a:r>
              <a:t>Fragmented Discovery Channels</a:t>
            </a:r>
          </a:p>
          <a:p>
            <a:pPr>
              <a:spcBef>
                <a:spcPts val="600"/>
              </a:spcBef>
              <a:defRPr sz="1250">
                <a:solidFill>
                  <a:srgbClr val="334155"/>
                </a:solidFill>
                <a:latin typeface="Segoe UI"/>
              </a:defRPr>
            </a:pPr>
            <a:r>
              <a:t>Students have to navigate multiple generic job boards filled with experienced roles, resulting in wasted effort and missed entry-level opportunities.</a:t>
            </a:r>
          </a:p>
        </p:txBody>
      </p:sp>
      <p:sp>
        <p:nvSpPr>
          <p:cNvPr id="12" name="Rounded Rectangle 11"/>
          <p:cNvSpPr/>
          <p:nvPr/>
        </p:nvSpPr>
        <p:spPr>
          <a:xfrm>
            <a:off x="6227064" y="1207008"/>
            <a:ext cx="5230368" cy="2084831"/>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83096" y="1408176"/>
            <a:ext cx="530352" cy="347472"/>
          </a:xfrm>
          <a:prstGeom prst="roundRect">
            <a:avLst/>
          </a:prstGeom>
          <a:solidFill>
            <a:srgbClr val="E0F2FE"/>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284C7"/>
                </a:solidFill>
                <a:latin typeface="Segoe UI"/>
              </a:defRPr>
            </a:pPr>
            <a:r>
              <a:t>02</a:t>
            </a:r>
          </a:p>
        </p:txBody>
      </p:sp>
      <p:sp>
        <p:nvSpPr>
          <p:cNvPr id="14" name="TextBox 13"/>
          <p:cNvSpPr txBox="1"/>
          <p:nvPr/>
        </p:nvSpPr>
        <p:spPr>
          <a:xfrm>
            <a:off x="7159752" y="1353312"/>
            <a:ext cx="4087368" cy="1856231"/>
          </a:xfrm>
          <a:prstGeom prst="rect">
            <a:avLst/>
          </a:prstGeom>
          <a:noFill/>
        </p:spPr>
        <p:txBody>
          <a:bodyPr wrap="square">
            <a:spAutoFit/>
          </a:bodyPr>
          <a:lstStyle/>
          <a:p>
            <a:pPr>
              <a:defRPr sz="1450" b="1">
                <a:solidFill>
                  <a:srgbClr val="0284C7"/>
                </a:solidFill>
                <a:latin typeface="Segoe UI"/>
              </a:defRPr>
            </a:pPr>
            <a:r>
              <a:t>Application Black Hole</a:t>
            </a:r>
          </a:p>
          <a:p>
            <a:pPr>
              <a:spcBef>
                <a:spcPts val="600"/>
              </a:spcBef>
              <a:defRPr sz="1250">
                <a:solidFill>
                  <a:srgbClr val="334155"/>
                </a:solidFill>
                <a:latin typeface="Segoe UI"/>
              </a:defRPr>
            </a:pPr>
            <a:r>
              <a:t>Lack of transparent tracking leaves candidates with zero feedback on whether resumes were seen, reviewed, shortlisted, or rejected.</a:t>
            </a:r>
          </a:p>
        </p:txBody>
      </p:sp>
      <p:sp>
        <p:nvSpPr>
          <p:cNvPr id="15" name="Rounded Rectangle 14"/>
          <p:cNvSpPr/>
          <p:nvPr/>
        </p:nvSpPr>
        <p:spPr>
          <a:xfrm>
            <a:off x="731520" y="3401568"/>
            <a:ext cx="5230368" cy="2084831"/>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87552" y="3602736"/>
            <a:ext cx="530352" cy="347472"/>
          </a:xfrm>
          <a:prstGeom prst="roundRect">
            <a:avLst/>
          </a:prstGeom>
          <a:solidFill>
            <a:srgbClr val="E0F2FE"/>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284C7"/>
                </a:solidFill>
                <a:latin typeface="Segoe UI"/>
              </a:defRPr>
            </a:pPr>
            <a:r>
              <a:t>03</a:t>
            </a:r>
          </a:p>
        </p:txBody>
      </p:sp>
      <p:sp>
        <p:nvSpPr>
          <p:cNvPr id="17" name="TextBox 16"/>
          <p:cNvSpPr txBox="1"/>
          <p:nvPr/>
        </p:nvSpPr>
        <p:spPr>
          <a:xfrm>
            <a:off x="1664208" y="3547872"/>
            <a:ext cx="4087368" cy="1856231"/>
          </a:xfrm>
          <a:prstGeom prst="rect">
            <a:avLst/>
          </a:prstGeom>
          <a:noFill/>
        </p:spPr>
        <p:txBody>
          <a:bodyPr wrap="square">
            <a:spAutoFit/>
          </a:bodyPr>
          <a:lstStyle/>
          <a:p>
            <a:pPr>
              <a:defRPr sz="1450" b="1">
                <a:solidFill>
                  <a:srgbClr val="0284C7"/>
                </a:solidFill>
                <a:latin typeface="Segoe UI"/>
              </a:defRPr>
            </a:pPr>
            <a:r>
              <a:t>Recruiter Screening Overhead</a:t>
            </a:r>
          </a:p>
          <a:p>
            <a:pPr>
              <a:spcBef>
                <a:spcPts val="600"/>
              </a:spcBef>
              <a:defRPr sz="1250">
                <a:solidFill>
                  <a:srgbClr val="334155"/>
                </a:solidFill>
                <a:latin typeface="Segoe UI"/>
              </a:defRPr>
            </a:pPr>
            <a:r>
              <a:t>Employers receive disorganized emails and unstandardized resumes, making manual candidate screening slow, tedious, and prone to errors.</a:t>
            </a:r>
          </a:p>
        </p:txBody>
      </p:sp>
      <p:sp>
        <p:nvSpPr>
          <p:cNvPr id="18" name="Rounded Rectangle 17"/>
          <p:cNvSpPr/>
          <p:nvPr/>
        </p:nvSpPr>
        <p:spPr>
          <a:xfrm>
            <a:off x="6227064" y="3401568"/>
            <a:ext cx="5230368" cy="2084831"/>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83096" y="3602736"/>
            <a:ext cx="530352" cy="347472"/>
          </a:xfrm>
          <a:prstGeom prst="roundRect">
            <a:avLst/>
          </a:prstGeom>
          <a:solidFill>
            <a:srgbClr val="E0F2FE"/>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284C7"/>
                </a:solidFill>
                <a:latin typeface="Segoe UI"/>
              </a:defRPr>
            </a:pPr>
            <a:r>
              <a:t>04</a:t>
            </a:r>
          </a:p>
        </p:txBody>
      </p:sp>
      <p:sp>
        <p:nvSpPr>
          <p:cNvPr id="20" name="TextBox 19"/>
          <p:cNvSpPr txBox="1"/>
          <p:nvPr/>
        </p:nvSpPr>
        <p:spPr>
          <a:xfrm>
            <a:off x="7159752" y="3547872"/>
            <a:ext cx="4087368" cy="1856231"/>
          </a:xfrm>
          <a:prstGeom prst="rect">
            <a:avLst/>
          </a:prstGeom>
          <a:noFill/>
        </p:spPr>
        <p:txBody>
          <a:bodyPr wrap="square">
            <a:spAutoFit/>
          </a:bodyPr>
          <a:lstStyle/>
          <a:p>
            <a:pPr>
              <a:defRPr sz="1450" b="1">
                <a:solidFill>
                  <a:srgbClr val="0284C7"/>
                </a:solidFill>
                <a:latin typeface="Segoe UI"/>
              </a:defRPr>
            </a:pPr>
            <a:r>
              <a:t>Lack of a Unified Trusted Hub</a:t>
            </a:r>
          </a:p>
          <a:p>
            <a:pPr>
              <a:spcBef>
                <a:spcPts val="600"/>
              </a:spcBef>
              <a:defRPr sz="1250">
                <a:solidFill>
                  <a:srgbClr val="334155"/>
                </a:solidFill>
                <a:latin typeface="Segoe UI"/>
              </a:defRPr>
            </a:pPr>
            <a:r>
              <a:t>Absence of a single role-based platform bridging students, corporate recruiters, and college administrators seamlessly.</a:t>
            </a:r>
          </a:p>
        </p:txBody>
      </p:sp>
      <p:sp>
        <p:nvSpPr>
          <p:cNvPr id="21" name="Rounded Rectangle 20"/>
          <p:cNvSpPr/>
          <p:nvPr/>
        </p:nvSpPr>
        <p:spPr>
          <a:xfrm>
            <a:off x="731520" y="5623560"/>
            <a:ext cx="10728655" cy="566928"/>
          </a:xfrm>
          <a:prstGeom prst="roundRect">
            <a:avLst/>
          </a:prstGeom>
          <a:solidFill>
            <a:srgbClr val="E0F2FE"/>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284C7"/>
                </a:solidFill>
                <a:latin typeface="Segoe UI"/>
              </a:defRPr>
            </a:pPr>
            <a:r>
              <a:t>💡 Impact Summary: Solves recruitment latency and transparency gaps with real-time tracking and verified opportunities.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DFA"/>
          </a:solidFill>
          <a:ln>
            <a:solidFill>
              <a:srgbClr val="F0FD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327648"/>
            <a:ext cx="10728655" cy="18288"/>
          </a:xfrm>
          <a:prstGeom prst="rect">
            <a:avLst/>
          </a:prstGeom>
          <a:solidFill>
            <a:srgbClr val="99F6E4"/>
          </a:solidFill>
          <a:ln>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64224"/>
            <a:ext cx="7772400" cy="347472"/>
          </a:xfrm>
          <a:prstGeom prst="rect">
            <a:avLst/>
          </a:prstGeom>
          <a:noFill/>
        </p:spPr>
        <p:txBody>
          <a:bodyPr wrap="square">
            <a:spAutoFit/>
          </a:bodyPr>
          <a:lstStyle/>
          <a:p>
            <a:pPr>
              <a:defRPr sz="1000">
                <a:solidFill>
                  <a:srgbClr val="334155"/>
                </a:solidFill>
                <a:latin typeface="Segoe UI"/>
              </a:defRPr>
            </a:pPr>
            <a:r>
              <a:t>INTERNHUB  •  Full-Stack Internship &amp; Recruitment Platform  •  NRCM / CSE-E</a:t>
            </a:r>
          </a:p>
        </p:txBody>
      </p:sp>
      <p:sp>
        <p:nvSpPr>
          <p:cNvPr id="6" name="TextBox 5"/>
          <p:cNvSpPr txBox="1"/>
          <p:nvPr/>
        </p:nvSpPr>
        <p:spPr>
          <a:xfrm>
            <a:off x="9601200" y="6364224"/>
            <a:ext cx="1858975" cy="347472"/>
          </a:xfrm>
          <a:prstGeom prst="rect">
            <a:avLst/>
          </a:prstGeom>
          <a:noFill/>
        </p:spPr>
        <p:txBody>
          <a:bodyPr wrap="none">
            <a:spAutoFit/>
          </a:bodyPr>
          <a:lstStyle/>
          <a:p>
            <a:pPr algn="r">
              <a:defRPr sz="1050" b="1">
                <a:solidFill>
                  <a:srgbClr val="0D9488"/>
                </a:solidFill>
                <a:latin typeface="Segoe UI"/>
              </a:defRPr>
            </a:pPr>
            <a:r>
              <a:t>Slide 3 of 11</a:t>
            </a:r>
          </a:p>
        </p:txBody>
      </p:sp>
      <p:sp>
        <p:nvSpPr>
          <p:cNvPr id="7" name="Rounded Rectangle 6"/>
          <p:cNvSpPr/>
          <p:nvPr/>
        </p:nvSpPr>
        <p:spPr>
          <a:xfrm>
            <a:off x="731520" y="384048"/>
            <a:ext cx="1188720" cy="320040"/>
          </a:xfrm>
          <a:prstGeom prst="roundRect">
            <a:avLst/>
          </a:prstGeom>
          <a:solidFill>
            <a:srgbClr val="CCFBF1"/>
          </a:solidFill>
          <a:ln>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D9488"/>
                </a:solidFill>
                <a:latin typeface="Segoe UI"/>
              </a:defRPr>
            </a:pPr>
            <a:r>
              <a:t>SLIDE 03</a:t>
            </a:r>
          </a:p>
        </p:txBody>
      </p:sp>
      <p:sp>
        <p:nvSpPr>
          <p:cNvPr id="8" name="TextBox 7"/>
          <p:cNvSpPr txBox="1"/>
          <p:nvPr/>
        </p:nvSpPr>
        <p:spPr>
          <a:xfrm>
            <a:off x="2057400" y="292608"/>
            <a:ext cx="9326880" cy="777240"/>
          </a:xfrm>
          <a:prstGeom prst="rect">
            <a:avLst/>
          </a:prstGeom>
          <a:noFill/>
        </p:spPr>
        <p:txBody>
          <a:bodyPr wrap="square">
            <a:spAutoFit/>
          </a:bodyPr>
          <a:lstStyle/>
          <a:p>
            <a:pPr>
              <a:defRPr sz="2200" b="1">
                <a:solidFill>
                  <a:srgbClr val="0D9488"/>
                </a:solidFill>
                <a:latin typeface="Segoe UI"/>
              </a:defRPr>
            </a:pPr>
            <a:r>
              <a:t>Project Overview &amp; Core Objectives</a:t>
            </a:r>
          </a:p>
          <a:p>
            <a:pPr>
              <a:spcBef>
                <a:spcPts val="200"/>
              </a:spcBef>
              <a:defRPr sz="1200">
                <a:solidFill>
                  <a:srgbClr val="334155"/>
                </a:solidFill>
                <a:latin typeface="Segoe UI"/>
              </a:defRPr>
            </a:pPr>
            <a:r>
              <a:t>Strategic purpose, technical mission, and key deliverables of the InternHub portal</a:t>
            </a:r>
          </a:p>
        </p:txBody>
      </p:sp>
      <p:sp>
        <p:nvSpPr>
          <p:cNvPr id="9" name="Rounded Rectangle 8"/>
          <p:cNvSpPr/>
          <p:nvPr/>
        </p:nvSpPr>
        <p:spPr>
          <a:xfrm>
            <a:off x="731520" y="1207008"/>
            <a:ext cx="5230368" cy="2084831"/>
          </a:xfrm>
          <a:prstGeom prst="roundRect">
            <a:avLst/>
          </a:prstGeom>
          <a:solidFill>
            <a:srgbClr val="FFFFFF"/>
          </a:solidFill>
          <a:ln w="1905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87552" y="1408176"/>
            <a:ext cx="530352" cy="347472"/>
          </a:xfrm>
          <a:prstGeom prst="roundRect">
            <a:avLst/>
          </a:prstGeom>
          <a:solidFill>
            <a:srgbClr val="CCFBF1"/>
          </a:solidFill>
          <a:ln>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D9488"/>
                </a:solidFill>
                <a:latin typeface="Segoe UI"/>
              </a:defRPr>
            </a:pPr>
            <a:r>
              <a:t>01</a:t>
            </a:r>
          </a:p>
        </p:txBody>
      </p:sp>
      <p:sp>
        <p:nvSpPr>
          <p:cNvPr id="11" name="TextBox 10"/>
          <p:cNvSpPr txBox="1"/>
          <p:nvPr/>
        </p:nvSpPr>
        <p:spPr>
          <a:xfrm>
            <a:off x="1664208" y="1353312"/>
            <a:ext cx="4087368" cy="1856231"/>
          </a:xfrm>
          <a:prstGeom prst="rect">
            <a:avLst/>
          </a:prstGeom>
          <a:noFill/>
        </p:spPr>
        <p:txBody>
          <a:bodyPr wrap="square">
            <a:spAutoFit/>
          </a:bodyPr>
          <a:lstStyle/>
          <a:p>
            <a:pPr>
              <a:defRPr sz="1450" b="1">
                <a:solidFill>
                  <a:srgbClr val="0D9488"/>
                </a:solidFill>
                <a:latin typeface="Segoe UI"/>
              </a:defRPr>
            </a:pPr>
            <a:r>
              <a:t>Modern Full-Stack MERN Architecture</a:t>
            </a:r>
          </a:p>
          <a:p>
            <a:pPr>
              <a:spcBef>
                <a:spcPts val="600"/>
              </a:spcBef>
              <a:defRPr sz="1250">
                <a:solidFill>
                  <a:srgbClr val="334155"/>
                </a:solidFill>
                <a:latin typeface="Segoe UI"/>
              </a:defRPr>
            </a:pPr>
            <a:r>
              <a:t>Engineered with MongoDB, Express.js, React 18, and Node.js for lightning-fast responsiveness and full-stack modularity.</a:t>
            </a:r>
          </a:p>
        </p:txBody>
      </p:sp>
      <p:sp>
        <p:nvSpPr>
          <p:cNvPr id="12" name="Rounded Rectangle 11"/>
          <p:cNvSpPr/>
          <p:nvPr/>
        </p:nvSpPr>
        <p:spPr>
          <a:xfrm>
            <a:off x="6227064" y="1207008"/>
            <a:ext cx="5230368" cy="2084831"/>
          </a:xfrm>
          <a:prstGeom prst="roundRect">
            <a:avLst/>
          </a:prstGeom>
          <a:solidFill>
            <a:srgbClr val="FFFFFF"/>
          </a:solidFill>
          <a:ln w="1905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83096" y="1408176"/>
            <a:ext cx="530352" cy="347472"/>
          </a:xfrm>
          <a:prstGeom prst="roundRect">
            <a:avLst/>
          </a:prstGeom>
          <a:solidFill>
            <a:srgbClr val="CCFBF1"/>
          </a:solidFill>
          <a:ln>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D9488"/>
                </a:solidFill>
                <a:latin typeface="Segoe UI"/>
              </a:defRPr>
            </a:pPr>
            <a:r>
              <a:t>02</a:t>
            </a:r>
          </a:p>
        </p:txBody>
      </p:sp>
      <p:sp>
        <p:nvSpPr>
          <p:cNvPr id="14" name="TextBox 13"/>
          <p:cNvSpPr txBox="1"/>
          <p:nvPr/>
        </p:nvSpPr>
        <p:spPr>
          <a:xfrm>
            <a:off x="7159752" y="1353312"/>
            <a:ext cx="4087368" cy="1856231"/>
          </a:xfrm>
          <a:prstGeom prst="rect">
            <a:avLst/>
          </a:prstGeom>
          <a:noFill/>
        </p:spPr>
        <p:txBody>
          <a:bodyPr wrap="square">
            <a:spAutoFit/>
          </a:bodyPr>
          <a:lstStyle/>
          <a:p>
            <a:pPr>
              <a:defRPr sz="1450" b="1">
                <a:solidFill>
                  <a:srgbClr val="0D9488"/>
                </a:solidFill>
                <a:latin typeface="Segoe UI"/>
              </a:defRPr>
            </a:pPr>
            <a:r>
              <a:t>Smart Opportunity Discovery</a:t>
            </a:r>
          </a:p>
          <a:p>
            <a:pPr>
              <a:spcBef>
                <a:spcPts val="600"/>
              </a:spcBef>
              <a:defRPr sz="1250">
                <a:solidFill>
                  <a:srgbClr val="334155"/>
                </a:solidFill>
                <a:latin typeface="Segoe UI"/>
              </a:defRPr>
            </a:pPr>
            <a:r>
              <a:t>Multi-parameter search allowing candidates to instantly filter openings by domain, location (remote/hybrid), duration, and stipend.</a:t>
            </a:r>
          </a:p>
        </p:txBody>
      </p:sp>
      <p:sp>
        <p:nvSpPr>
          <p:cNvPr id="15" name="Rounded Rectangle 14"/>
          <p:cNvSpPr/>
          <p:nvPr/>
        </p:nvSpPr>
        <p:spPr>
          <a:xfrm>
            <a:off x="731520" y="3401568"/>
            <a:ext cx="5230368" cy="2084831"/>
          </a:xfrm>
          <a:prstGeom prst="roundRect">
            <a:avLst/>
          </a:prstGeom>
          <a:solidFill>
            <a:srgbClr val="FFFFFF"/>
          </a:solidFill>
          <a:ln w="1905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87552" y="3602736"/>
            <a:ext cx="530352" cy="347472"/>
          </a:xfrm>
          <a:prstGeom prst="roundRect">
            <a:avLst/>
          </a:prstGeom>
          <a:solidFill>
            <a:srgbClr val="CCFBF1"/>
          </a:solidFill>
          <a:ln>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D9488"/>
                </a:solidFill>
                <a:latin typeface="Segoe UI"/>
              </a:defRPr>
            </a:pPr>
            <a:r>
              <a:t>03</a:t>
            </a:r>
          </a:p>
        </p:txBody>
      </p:sp>
      <p:sp>
        <p:nvSpPr>
          <p:cNvPr id="17" name="TextBox 16"/>
          <p:cNvSpPr txBox="1"/>
          <p:nvPr/>
        </p:nvSpPr>
        <p:spPr>
          <a:xfrm>
            <a:off x="1664208" y="3547872"/>
            <a:ext cx="4087368" cy="1856231"/>
          </a:xfrm>
          <a:prstGeom prst="rect">
            <a:avLst/>
          </a:prstGeom>
          <a:noFill/>
        </p:spPr>
        <p:txBody>
          <a:bodyPr wrap="square">
            <a:spAutoFit/>
          </a:bodyPr>
          <a:lstStyle/>
          <a:p>
            <a:pPr>
              <a:defRPr sz="1450" b="1">
                <a:solidFill>
                  <a:srgbClr val="0D9488"/>
                </a:solidFill>
                <a:latin typeface="Segoe UI"/>
              </a:defRPr>
            </a:pPr>
            <a:r>
              <a:t>Transparent Live Tracking</a:t>
            </a:r>
          </a:p>
          <a:p>
            <a:pPr>
              <a:spcBef>
                <a:spcPts val="600"/>
              </a:spcBef>
              <a:defRPr sz="1250">
                <a:solidFill>
                  <a:srgbClr val="334155"/>
                </a:solidFill>
                <a:latin typeface="Segoe UI"/>
              </a:defRPr>
            </a:pPr>
            <a:r>
              <a:t>End-to-end status visibility across every stage: Applied ➔ In Review ➔ Shortlisted ➔ Decision, eliminating student uncertainty.</a:t>
            </a:r>
          </a:p>
        </p:txBody>
      </p:sp>
      <p:sp>
        <p:nvSpPr>
          <p:cNvPr id="18" name="Rounded Rectangle 17"/>
          <p:cNvSpPr/>
          <p:nvPr/>
        </p:nvSpPr>
        <p:spPr>
          <a:xfrm>
            <a:off x="6227064" y="3401568"/>
            <a:ext cx="5230368" cy="2084831"/>
          </a:xfrm>
          <a:prstGeom prst="roundRect">
            <a:avLst/>
          </a:prstGeom>
          <a:solidFill>
            <a:srgbClr val="FFFFFF"/>
          </a:solidFill>
          <a:ln w="1905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83096" y="3602736"/>
            <a:ext cx="530352" cy="347472"/>
          </a:xfrm>
          <a:prstGeom prst="roundRect">
            <a:avLst/>
          </a:prstGeom>
          <a:solidFill>
            <a:srgbClr val="CCFBF1"/>
          </a:solidFill>
          <a:ln>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D9488"/>
                </a:solidFill>
                <a:latin typeface="Segoe UI"/>
              </a:defRPr>
            </a:pPr>
            <a:r>
              <a:t>04</a:t>
            </a:r>
          </a:p>
        </p:txBody>
      </p:sp>
      <p:sp>
        <p:nvSpPr>
          <p:cNvPr id="20" name="TextBox 19"/>
          <p:cNvSpPr txBox="1"/>
          <p:nvPr/>
        </p:nvSpPr>
        <p:spPr>
          <a:xfrm>
            <a:off x="7159752" y="3547872"/>
            <a:ext cx="4087368" cy="1856231"/>
          </a:xfrm>
          <a:prstGeom prst="rect">
            <a:avLst/>
          </a:prstGeom>
          <a:noFill/>
        </p:spPr>
        <p:txBody>
          <a:bodyPr wrap="square">
            <a:spAutoFit/>
          </a:bodyPr>
          <a:lstStyle/>
          <a:p>
            <a:pPr>
              <a:defRPr sz="1450" b="1">
                <a:solidFill>
                  <a:srgbClr val="0D9488"/>
                </a:solidFill>
                <a:latin typeface="Segoe UI"/>
              </a:defRPr>
            </a:pPr>
            <a:r>
              <a:t>Recruiter &amp; Admin Dashboards</a:t>
            </a:r>
          </a:p>
          <a:p>
            <a:pPr>
              <a:spcBef>
                <a:spcPts val="600"/>
              </a:spcBef>
              <a:defRPr sz="1250">
                <a:solidFill>
                  <a:srgbClr val="334155"/>
                </a:solidFill>
                <a:latin typeface="Segoe UI"/>
              </a:defRPr>
            </a:pPr>
            <a:r>
              <a:t>Comprehensive portals for employers to manage applicants and for administrators to oversee platform moderation and metrics.</a:t>
            </a:r>
          </a:p>
        </p:txBody>
      </p:sp>
      <p:sp>
        <p:nvSpPr>
          <p:cNvPr id="21" name="Rounded Rectangle 20"/>
          <p:cNvSpPr/>
          <p:nvPr/>
        </p:nvSpPr>
        <p:spPr>
          <a:xfrm>
            <a:off x="731520" y="5623560"/>
            <a:ext cx="10728655" cy="566928"/>
          </a:xfrm>
          <a:prstGeom prst="roundRect">
            <a:avLst/>
          </a:prstGeom>
          <a:solidFill>
            <a:srgbClr val="CCFBF1"/>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D9488"/>
                </a:solidFill>
                <a:latin typeface="Segoe UI"/>
              </a:defRPr>
            </a:pPr>
            <a:r>
              <a:t>💡 Impact Summary: Delivers a zero-latency recruitment pipeline tailored for university students and corporate recruiters.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FDF5"/>
          </a:solidFill>
          <a:ln>
            <a:solidFill>
              <a:srgbClr val="ECFD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327648"/>
            <a:ext cx="10728655" cy="18288"/>
          </a:xfrm>
          <a:prstGeom prst="rect">
            <a:avLst/>
          </a:prstGeom>
          <a:solidFill>
            <a:srgbClr val="A7F3D0"/>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64224"/>
            <a:ext cx="7772400" cy="347472"/>
          </a:xfrm>
          <a:prstGeom prst="rect">
            <a:avLst/>
          </a:prstGeom>
          <a:noFill/>
        </p:spPr>
        <p:txBody>
          <a:bodyPr wrap="square">
            <a:spAutoFit/>
          </a:bodyPr>
          <a:lstStyle/>
          <a:p>
            <a:pPr>
              <a:defRPr sz="1000">
                <a:solidFill>
                  <a:srgbClr val="334155"/>
                </a:solidFill>
                <a:latin typeface="Segoe UI"/>
              </a:defRPr>
            </a:pPr>
            <a:r>
              <a:t>INTERNHUB  •  Full-Stack Internship &amp; Recruitment Platform  •  NRCM / CSE-E</a:t>
            </a:r>
          </a:p>
        </p:txBody>
      </p:sp>
      <p:sp>
        <p:nvSpPr>
          <p:cNvPr id="6" name="TextBox 5"/>
          <p:cNvSpPr txBox="1"/>
          <p:nvPr/>
        </p:nvSpPr>
        <p:spPr>
          <a:xfrm>
            <a:off x="9601200" y="6364224"/>
            <a:ext cx="1858975" cy="347472"/>
          </a:xfrm>
          <a:prstGeom prst="rect">
            <a:avLst/>
          </a:prstGeom>
          <a:noFill/>
        </p:spPr>
        <p:txBody>
          <a:bodyPr wrap="none">
            <a:spAutoFit/>
          </a:bodyPr>
          <a:lstStyle/>
          <a:p>
            <a:pPr algn="r">
              <a:defRPr sz="1050" b="1">
                <a:solidFill>
                  <a:srgbClr val="059669"/>
                </a:solidFill>
                <a:latin typeface="Segoe UI"/>
              </a:defRPr>
            </a:pPr>
            <a:r>
              <a:t>Slide 4 of 11</a:t>
            </a:r>
          </a:p>
        </p:txBody>
      </p:sp>
      <p:sp>
        <p:nvSpPr>
          <p:cNvPr id="7" name="Rounded Rectangle 6"/>
          <p:cNvSpPr/>
          <p:nvPr/>
        </p:nvSpPr>
        <p:spPr>
          <a:xfrm>
            <a:off x="731520" y="384048"/>
            <a:ext cx="1188720" cy="320040"/>
          </a:xfrm>
          <a:prstGeom prst="roundRect">
            <a:avLst/>
          </a:prstGeom>
          <a:solidFill>
            <a:srgbClr val="D1FAE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59669"/>
                </a:solidFill>
                <a:latin typeface="Segoe UI"/>
              </a:defRPr>
            </a:pPr>
            <a:r>
              <a:t>SLIDE 04</a:t>
            </a:r>
          </a:p>
        </p:txBody>
      </p:sp>
      <p:sp>
        <p:nvSpPr>
          <p:cNvPr id="8" name="TextBox 7"/>
          <p:cNvSpPr txBox="1"/>
          <p:nvPr/>
        </p:nvSpPr>
        <p:spPr>
          <a:xfrm>
            <a:off x="2057400" y="292608"/>
            <a:ext cx="9326880" cy="777240"/>
          </a:xfrm>
          <a:prstGeom prst="rect">
            <a:avLst/>
          </a:prstGeom>
          <a:noFill/>
        </p:spPr>
        <p:txBody>
          <a:bodyPr wrap="square">
            <a:spAutoFit/>
          </a:bodyPr>
          <a:lstStyle/>
          <a:p>
            <a:pPr>
              <a:defRPr sz="2200" b="1">
                <a:solidFill>
                  <a:srgbClr val="059669"/>
                </a:solidFill>
                <a:latin typeface="Segoe UI"/>
              </a:defRPr>
            </a:pPr>
            <a:r>
              <a:t>System Architecture &amp; Technology Stack</a:t>
            </a:r>
          </a:p>
          <a:p>
            <a:pPr>
              <a:spcBef>
                <a:spcPts val="200"/>
              </a:spcBef>
              <a:defRPr sz="1200">
                <a:solidFill>
                  <a:srgbClr val="334155"/>
                </a:solidFill>
                <a:latin typeface="Segoe UI"/>
              </a:defRPr>
            </a:pPr>
            <a:r>
              <a:t>Decoupled Client-Server Tiered Architecture with Scalable RESTful Services</a:t>
            </a:r>
          </a:p>
        </p:txBody>
      </p:sp>
      <p:sp>
        <p:nvSpPr>
          <p:cNvPr id="9" name="Rounded Rectangle 8"/>
          <p:cNvSpPr/>
          <p:nvPr/>
        </p:nvSpPr>
        <p:spPr>
          <a:xfrm>
            <a:off x="731520" y="1188720"/>
            <a:ext cx="5230368" cy="621792"/>
          </a:xfrm>
          <a:prstGeom prst="roundRect">
            <a:avLst/>
          </a:prstGeom>
          <a:solidFill>
            <a:srgbClr val="059669"/>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50" b="1">
                <a:solidFill>
                  <a:srgbClr val="FFFFFF"/>
                </a:solidFill>
                <a:latin typeface="Segoe UI"/>
              </a:defRPr>
            </a:pPr>
            <a:r>
              <a:t>Frontend &amp; Client Tier</a:t>
            </a:r>
          </a:p>
        </p:txBody>
      </p:sp>
      <p:sp>
        <p:nvSpPr>
          <p:cNvPr id="10" name="Rounded Rectangle 9"/>
          <p:cNvSpPr/>
          <p:nvPr/>
        </p:nvSpPr>
        <p:spPr>
          <a:xfrm>
            <a:off x="731520" y="1883664"/>
            <a:ext cx="5230368" cy="841248"/>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59669"/>
                </a:solidFill>
                <a:latin typeface="Segoe UI"/>
              </a:defRPr>
            </a:pPr>
            <a:r>
              <a:t>✔  React 18 &amp; Vite</a:t>
            </a:r>
          </a:p>
          <a:p>
            <a:pPr>
              <a:spcBef>
                <a:spcPts val="200"/>
              </a:spcBef>
              <a:defRPr sz="1150">
                <a:solidFill>
                  <a:srgbClr val="334155"/>
                </a:solidFill>
                <a:latin typeface="Segoe UI"/>
              </a:defRPr>
            </a:pPr>
            <a:r>
              <a:t>High-performance reactive frontend with ultra-fast Hot Module Replacement</a:t>
            </a:r>
          </a:p>
        </p:txBody>
      </p:sp>
      <p:sp>
        <p:nvSpPr>
          <p:cNvPr id="11" name="Rounded Rectangle 10"/>
          <p:cNvSpPr/>
          <p:nvPr/>
        </p:nvSpPr>
        <p:spPr>
          <a:xfrm>
            <a:off x="731520" y="2807208"/>
            <a:ext cx="5230368" cy="841248"/>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59669"/>
                </a:solidFill>
                <a:latin typeface="Segoe UI"/>
              </a:defRPr>
            </a:pPr>
            <a:r>
              <a:t>✔  TailwindCSS &amp; Modern UI</a:t>
            </a:r>
          </a:p>
          <a:p>
            <a:pPr>
              <a:spcBef>
                <a:spcPts val="200"/>
              </a:spcBef>
              <a:defRPr sz="1150">
                <a:solidFill>
                  <a:srgbClr val="334155"/>
                </a:solidFill>
                <a:latin typeface="Segoe UI"/>
              </a:defRPr>
            </a:pPr>
            <a:r>
              <a:t>Responsive design system delivering cross-device accessibility and animations</a:t>
            </a:r>
          </a:p>
        </p:txBody>
      </p:sp>
      <p:sp>
        <p:nvSpPr>
          <p:cNvPr id="12" name="Rounded Rectangle 11"/>
          <p:cNvSpPr/>
          <p:nvPr/>
        </p:nvSpPr>
        <p:spPr>
          <a:xfrm>
            <a:off x="731520" y="3730752"/>
            <a:ext cx="5230368" cy="841248"/>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59669"/>
                </a:solidFill>
                <a:latin typeface="Segoe UI"/>
              </a:defRPr>
            </a:pPr>
            <a:r>
              <a:t>✔  React Router v6</a:t>
            </a:r>
          </a:p>
          <a:p>
            <a:pPr>
              <a:spcBef>
                <a:spcPts val="200"/>
              </a:spcBef>
              <a:defRPr sz="1150">
                <a:solidFill>
                  <a:srgbClr val="334155"/>
                </a:solidFill>
                <a:latin typeface="Segoe UI"/>
              </a:defRPr>
            </a:pPr>
            <a:r>
              <a:t>Dynamic client-side routing with authenticated route guards and error boundaries</a:t>
            </a:r>
          </a:p>
        </p:txBody>
      </p:sp>
      <p:sp>
        <p:nvSpPr>
          <p:cNvPr id="13" name="Rounded Rectangle 12"/>
          <p:cNvSpPr/>
          <p:nvPr/>
        </p:nvSpPr>
        <p:spPr>
          <a:xfrm>
            <a:off x="731520" y="4654296"/>
            <a:ext cx="5230368" cy="841248"/>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59669"/>
                </a:solidFill>
                <a:latin typeface="Segoe UI"/>
              </a:defRPr>
            </a:pPr>
            <a:r>
              <a:t>✔  Axios HTTP Client</a:t>
            </a:r>
          </a:p>
          <a:p>
            <a:pPr>
              <a:spcBef>
                <a:spcPts val="200"/>
              </a:spcBef>
              <a:defRPr sz="1150">
                <a:solidFill>
                  <a:srgbClr val="334155"/>
                </a:solidFill>
                <a:latin typeface="Segoe UI"/>
              </a:defRPr>
            </a:pPr>
            <a:r>
              <a:t>Centralized API communication layer with request/response interceptors</a:t>
            </a:r>
          </a:p>
        </p:txBody>
      </p:sp>
      <p:sp>
        <p:nvSpPr>
          <p:cNvPr id="14" name="Rounded Rectangle 13"/>
          <p:cNvSpPr/>
          <p:nvPr/>
        </p:nvSpPr>
        <p:spPr>
          <a:xfrm>
            <a:off x="6227064" y="1188720"/>
            <a:ext cx="5230368" cy="621792"/>
          </a:xfrm>
          <a:prstGeom prst="roundRect">
            <a:avLst/>
          </a:prstGeom>
          <a:solidFill>
            <a:srgbClr val="059669"/>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50" b="1">
                <a:solidFill>
                  <a:srgbClr val="FFFFFF"/>
                </a:solidFill>
                <a:latin typeface="Segoe UI"/>
              </a:defRPr>
            </a:pPr>
            <a:r>
              <a:t>Backend &amp; Persistence Tier</a:t>
            </a:r>
          </a:p>
        </p:txBody>
      </p:sp>
      <p:sp>
        <p:nvSpPr>
          <p:cNvPr id="15" name="Rounded Rectangle 14"/>
          <p:cNvSpPr/>
          <p:nvPr/>
        </p:nvSpPr>
        <p:spPr>
          <a:xfrm>
            <a:off x="6227064" y="1883664"/>
            <a:ext cx="5230368" cy="841248"/>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59669"/>
                </a:solidFill>
                <a:latin typeface="Segoe UI"/>
              </a:defRPr>
            </a:pPr>
            <a:r>
              <a:t>✔  Node.js &amp; Express.js</a:t>
            </a:r>
          </a:p>
          <a:p>
            <a:pPr>
              <a:spcBef>
                <a:spcPts val="200"/>
              </a:spcBef>
              <a:defRPr sz="1150">
                <a:solidFill>
                  <a:srgbClr val="334155"/>
                </a:solidFill>
                <a:latin typeface="Segoe UI"/>
              </a:defRPr>
            </a:pPr>
            <a:r>
              <a:t>Asynchronous, event-driven RESTful API backend handling concurrent requests</a:t>
            </a:r>
          </a:p>
        </p:txBody>
      </p:sp>
      <p:sp>
        <p:nvSpPr>
          <p:cNvPr id="16" name="Rounded Rectangle 15"/>
          <p:cNvSpPr/>
          <p:nvPr/>
        </p:nvSpPr>
        <p:spPr>
          <a:xfrm>
            <a:off x="6227064" y="2807208"/>
            <a:ext cx="5230368" cy="841248"/>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59669"/>
                </a:solidFill>
                <a:latin typeface="Segoe UI"/>
              </a:defRPr>
            </a:pPr>
            <a:r>
              <a:t>✔  MongoDB &amp; Mongoose ODM</a:t>
            </a:r>
          </a:p>
          <a:p>
            <a:pPr>
              <a:spcBef>
                <a:spcPts val="200"/>
              </a:spcBef>
              <a:defRPr sz="1150">
                <a:solidFill>
                  <a:srgbClr val="334155"/>
                </a:solidFill>
                <a:latin typeface="Segoe UI"/>
              </a:defRPr>
            </a:pPr>
            <a:r>
              <a:t>Document-oriented database with strict schema validation and query indexing</a:t>
            </a:r>
          </a:p>
        </p:txBody>
      </p:sp>
      <p:sp>
        <p:nvSpPr>
          <p:cNvPr id="17" name="Rounded Rectangle 16"/>
          <p:cNvSpPr/>
          <p:nvPr/>
        </p:nvSpPr>
        <p:spPr>
          <a:xfrm>
            <a:off x="6227064" y="3730752"/>
            <a:ext cx="5230368" cy="841248"/>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59669"/>
                </a:solidFill>
                <a:latin typeface="Segoe UI"/>
              </a:defRPr>
            </a:pPr>
            <a:r>
              <a:t>✔  JWT Authentication</a:t>
            </a:r>
          </a:p>
          <a:p>
            <a:pPr>
              <a:spcBef>
                <a:spcPts val="200"/>
              </a:spcBef>
              <a:defRPr sz="1150">
                <a:solidFill>
                  <a:srgbClr val="334155"/>
                </a:solidFill>
                <a:latin typeface="Segoe UI"/>
              </a:defRPr>
            </a:pPr>
            <a:r>
              <a:t>Stateless JSON Web Tokens with encrypted Bearer header authorization</a:t>
            </a:r>
          </a:p>
        </p:txBody>
      </p:sp>
      <p:sp>
        <p:nvSpPr>
          <p:cNvPr id="18" name="Rounded Rectangle 17"/>
          <p:cNvSpPr/>
          <p:nvPr/>
        </p:nvSpPr>
        <p:spPr>
          <a:xfrm>
            <a:off x="6227064" y="4654296"/>
            <a:ext cx="5230368" cy="841248"/>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59669"/>
                </a:solidFill>
                <a:latin typeface="Segoe UI"/>
              </a:defRPr>
            </a:pPr>
            <a:r>
              <a:t>✔  Docker &amp; Cloud Deploy</a:t>
            </a:r>
          </a:p>
          <a:p>
            <a:pPr>
              <a:spcBef>
                <a:spcPts val="200"/>
              </a:spcBef>
              <a:defRPr sz="1150">
                <a:solidFill>
                  <a:srgbClr val="334155"/>
                </a:solidFill>
                <a:latin typeface="Segoe UI"/>
              </a:defRPr>
            </a:pPr>
            <a:r>
              <a:t>Containerized deployment ensuring environment parity across local and cloud</a:t>
            </a:r>
          </a:p>
        </p:txBody>
      </p:sp>
      <p:sp>
        <p:nvSpPr>
          <p:cNvPr id="19" name="Rounded Rectangle 18"/>
          <p:cNvSpPr/>
          <p:nvPr/>
        </p:nvSpPr>
        <p:spPr>
          <a:xfrm>
            <a:off x="731520" y="5623560"/>
            <a:ext cx="10728655" cy="566928"/>
          </a:xfrm>
          <a:prstGeom prst="roundRect">
            <a:avLst/>
          </a:prstGeom>
          <a:solidFill>
            <a:srgbClr val="D1FAE5"/>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59669"/>
                </a:solidFill>
                <a:latin typeface="Segoe UI"/>
              </a:defRPr>
            </a:pPr>
            <a:r>
              <a:t>💡 Impact Summary: Decoupled MERN stack guarantees high throughput, modularity, and rapid cloud deployment.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DF4"/>
          </a:solidFill>
          <a:ln>
            <a:solidFill>
              <a:srgbClr val="F0FD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6A34A"/>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327648"/>
            <a:ext cx="10728655" cy="18288"/>
          </a:xfrm>
          <a:prstGeom prst="rect">
            <a:avLst/>
          </a:prstGeom>
          <a:solidFill>
            <a:srgbClr val="BBF7D0"/>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64224"/>
            <a:ext cx="7772400" cy="347472"/>
          </a:xfrm>
          <a:prstGeom prst="rect">
            <a:avLst/>
          </a:prstGeom>
          <a:noFill/>
        </p:spPr>
        <p:txBody>
          <a:bodyPr wrap="square">
            <a:spAutoFit/>
          </a:bodyPr>
          <a:lstStyle/>
          <a:p>
            <a:pPr>
              <a:defRPr sz="1000">
                <a:solidFill>
                  <a:srgbClr val="334155"/>
                </a:solidFill>
                <a:latin typeface="Segoe UI"/>
              </a:defRPr>
            </a:pPr>
            <a:r>
              <a:t>INTERNHUB  •  Full-Stack Internship &amp; Recruitment Platform  •  NRCM / CSE-E</a:t>
            </a:r>
          </a:p>
        </p:txBody>
      </p:sp>
      <p:sp>
        <p:nvSpPr>
          <p:cNvPr id="6" name="TextBox 5"/>
          <p:cNvSpPr txBox="1"/>
          <p:nvPr/>
        </p:nvSpPr>
        <p:spPr>
          <a:xfrm>
            <a:off x="9601200" y="6364224"/>
            <a:ext cx="1858975" cy="347472"/>
          </a:xfrm>
          <a:prstGeom prst="rect">
            <a:avLst/>
          </a:prstGeom>
          <a:noFill/>
        </p:spPr>
        <p:txBody>
          <a:bodyPr wrap="none">
            <a:spAutoFit/>
          </a:bodyPr>
          <a:lstStyle/>
          <a:p>
            <a:pPr algn="r">
              <a:defRPr sz="1050" b="1">
                <a:solidFill>
                  <a:srgbClr val="16A34A"/>
                </a:solidFill>
                <a:latin typeface="Segoe UI"/>
              </a:defRPr>
            </a:pPr>
            <a:r>
              <a:t>Slide 5 of 11</a:t>
            </a:r>
          </a:p>
        </p:txBody>
      </p:sp>
      <p:sp>
        <p:nvSpPr>
          <p:cNvPr id="7" name="Rounded Rectangle 6"/>
          <p:cNvSpPr/>
          <p:nvPr/>
        </p:nvSpPr>
        <p:spPr>
          <a:xfrm>
            <a:off x="731520" y="384048"/>
            <a:ext cx="1188720" cy="320040"/>
          </a:xfrm>
          <a:prstGeom prst="roundRect">
            <a:avLst/>
          </a:prstGeom>
          <a:solidFill>
            <a:srgbClr val="DCFCE7"/>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16A34A"/>
                </a:solidFill>
                <a:latin typeface="Segoe UI"/>
              </a:defRPr>
            </a:pPr>
            <a:r>
              <a:t>SLIDE 05</a:t>
            </a:r>
          </a:p>
        </p:txBody>
      </p:sp>
      <p:sp>
        <p:nvSpPr>
          <p:cNvPr id="8" name="TextBox 7"/>
          <p:cNvSpPr txBox="1"/>
          <p:nvPr/>
        </p:nvSpPr>
        <p:spPr>
          <a:xfrm>
            <a:off x="2057400" y="292608"/>
            <a:ext cx="9326880" cy="777240"/>
          </a:xfrm>
          <a:prstGeom prst="rect">
            <a:avLst/>
          </a:prstGeom>
          <a:noFill/>
        </p:spPr>
        <p:txBody>
          <a:bodyPr wrap="square">
            <a:spAutoFit/>
          </a:bodyPr>
          <a:lstStyle/>
          <a:p>
            <a:pPr>
              <a:defRPr sz="2200" b="1">
                <a:solidFill>
                  <a:srgbClr val="16A34A"/>
                </a:solidFill>
                <a:latin typeface="Segoe UI"/>
              </a:defRPr>
            </a:pPr>
            <a:r>
              <a:t>Role-Based Access Control (RBAC)</a:t>
            </a:r>
          </a:p>
          <a:p>
            <a:pPr>
              <a:spcBef>
                <a:spcPts val="200"/>
              </a:spcBef>
              <a:defRPr sz="1200">
                <a:solidFill>
                  <a:srgbClr val="334155"/>
                </a:solidFill>
                <a:latin typeface="Segoe UI"/>
              </a:defRPr>
            </a:pPr>
            <a:r>
              <a:t>Granular access control and dedicated dashboards for Students, Employers, and Admins</a:t>
            </a:r>
          </a:p>
        </p:txBody>
      </p:sp>
      <p:sp>
        <p:nvSpPr>
          <p:cNvPr id="9" name="Rounded Rectangle 8"/>
          <p:cNvSpPr/>
          <p:nvPr/>
        </p:nvSpPr>
        <p:spPr>
          <a:xfrm>
            <a:off x="731520" y="1188720"/>
            <a:ext cx="5230368" cy="621792"/>
          </a:xfrm>
          <a:prstGeom prst="roundRect">
            <a:avLst/>
          </a:prstGeom>
          <a:solidFill>
            <a:srgbClr val="16A34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50" b="1">
                <a:solidFill>
                  <a:srgbClr val="FFFFFF"/>
                </a:solidFill>
                <a:latin typeface="Segoe UI"/>
              </a:defRPr>
            </a:pPr>
            <a:r>
              <a:t>Student / Candidate Role</a:t>
            </a:r>
          </a:p>
        </p:txBody>
      </p:sp>
      <p:sp>
        <p:nvSpPr>
          <p:cNvPr id="10" name="Rounded Rectangle 9"/>
          <p:cNvSpPr/>
          <p:nvPr/>
        </p:nvSpPr>
        <p:spPr>
          <a:xfrm>
            <a:off x="731520" y="1883664"/>
            <a:ext cx="5230368" cy="841248"/>
          </a:xfrm>
          <a:prstGeom prst="roundRect">
            <a:avLst/>
          </a:prstGeom>
          <a:solidFill>
            <a:srgbClr val="FFFFFF"/>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6A34A"/>
                </a:solidFill>
                <a:latin typeface="Segoe UI"/>
              </a:defRPr>
            </a:pPr>
            <a:r>
              <a:t>✔  Opportunity Discovery</a:t>
            </a:r>
          </a:p>
          <a:p>
            <a:pPr>
              <a:spcBef>
                <a:spcPts val="200"/>
              </a:spcBef>
              <a:defRPr sz="1150">
                <a:solidFill>
                  <a:srgbClr val="334155"/>
                </a:solidFill>
                <a:latin typeface="Segoe UI"/>
              </a:defRPr>
            </a:pPr>
            <a:r>
              <a:t>Explore verified internships with smart domain, location, and stipend filters</a:t>
            </a:r>
          </a:p>
        </p:txBody>
      </p:sp>
      <p:sp>
        <p:nvSpPr>
          <p:cNvPr id="11" name="Rounded Rectangle 10"/>
          <p:cNvSpPr/>
          <p:nvPr/>
        </p:nvSpPr>
        <p:spPr>
          <a:xfrm>
            <a:off x="731520" y="2807208"/>
            <a:ext cx="5230368" cy="841248"/>
          </a:xfrm>
          <a:prstGeom prst="roundRect">
            <a:avLst/>
          </a:prstGeom>
          <a:solidFill>
            <a:srgbClr val="FFFFFF"/>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6A34A"/>
                </a:solidFill>
                <a:latin typeface="Segoe UI"/>
              </a:defRPr>
            </a:pPr>
            <a:r>
              <a:t>✔  One-Click Apply</a:t>
            </a:r>
          </a:p>
          <a:p>
            <a:pPr>
              <a:spcBef>
                <a:spcPts val="200"/>
              </a:spcBef>
              <a:defRPr sz="1150">
                <a:solidFill>
                  <a:srgbClr val="334155"/>
                </a:solidFill>
                <a:latin typeface="Segoe UI"/>
              </a:defRPr>
            </a:pPr>
            <a:r>
              <a:t>Submit applications with linked profile details, resume URL, and cover notes</a:t>
            </a:r>
          </a:p>
        </p:txBody>
      </p:sp>
      <p:sp>
        <p:nvSpPr>
          <p:cNvPr id="12" name="Rounded Rectangle 11"/>
          <p:cNvSpPr/>
          <p:nvPr/>
        </p:nvSpPr>
        <p:spPr>
          <a:xfrm>
            <a:off x="731520" y="3730752"/>
            <a:ext cx="5230368" cy="841248"/>
          </a:xfrm>
          <a:prstGeom prst="roundRect">
            <a:avLst/>
          </a:prstGeom>
          <a:solidFill>
            <a:srgbClr val="FFFFFF"/>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6A34A"/>
                </a:solidFill>
                <a:latin typeface="Segoe UI"/>
              </a:defRPr>
            </a:pPr>
            <a:r>
              <a:t>✔  Live Status Tracking</a:t>
            </a:r>
          </a:p>
          <a:p>
            <a:pPr>
              <a:spcBef>
                <a:spcPts val="200"/>
              </a:spcBef>
              <a:defRPr sz="1150">
                <a:solidFill>
                  <a:srgbClr val="334155"/>
                </a:solidFill>
                <a:latin typeface="Segoe UI"/>
              </a:defRPr>
            </a:pPr>
            <a:r>
              <a:t>Real-time visibility into application stage (Applied, Review, Shortlisted)</a:t>
            </a:r>
          </a:p>
        </p:txBody>
      </p:sp>
      <p:sp>
        <p:nvSpPr>
          <p:cNvPr id="13" name="Rounded Rectangle 12"/>
          <p:cNvSpPr/>
          <p:nvPr/>
        </p:nvSpPr>
        <p:spPr>
          <a:xfrm>
            <a:off x="731520" y="4654296"/>
            <a:ext cx="5230368" cy="841248"/>
          </a:xfrm>
          <a:prstGeom prst="roundRect">
            <a:avLst/>
          </a:prstGeom>
          <a:solidFill>
            <a:srgbClr val="FFFFFF"/>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6A34A"/>
                </a:solidFill>
                <a:latin typeface="Segoe UI"/>
              </a:defRPr>
            </a:pPr>
            <a:r>
              <a:t>✔  Bookmark &amp; Alerts</a:t>
            </a:r>
          </a:p>
          <a:p>
            <a:pPr>
              <a:spcBef>
                <a:spcPts val="200"/>
              </a:spcBef>
              <a:defRPr sz="1150">
                <a:solidFill>
                  <a:srgbClr val="334155"/>
                </a:solidFill>
                <a:latin typeface="Segoe UI"/>
              </a:defRPr>
            </a:pPr>
            <a:r>
              <a:t>Save favorite opportunities and receive instant status update notifications</a:t>
            </a:r>
          </a:p>
        </p:txBody>
      </p:sp>
      <p:sp>
        <p:nvSpPr>
          <p:cNvPr id="14" name="Rounded Rectangle 13"/>
          <p:cNvSpPr/>
          <p:nvPr/>
        </p:nvSpPr>
        <p:spPr>
          <a:xfrm>
            <a:off x="6227064" y="1188720"/>
            <a:ext cx="5230368" cy="621792"/>
          </a:xfrm>
          <a:prstGeom prst="roundRect">
            <a:avLst/>
          </a:prstGeom>
          <a:solidFill>
            <a:srgbClr val="16A34A"/>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50" b="1">
                <a:solidFill>
                  <a:srgbClr val="FFFFFF"/>
                </a:solidFill>
                <a:latin typeface="Segoe UI"/>
              </a:defRPr>
            </a:pPr>
            <a:r>
              <a:t>Employer &amp; Administrator Roles</a:t>
            </a:r>
          </a:p>
        </p:txBody>
      </p:sp>
      <p:sp>
        <p:nvSpPr>
          <p:cNvPr id="15" name="Rounded Rectangle 14"/>
          <p:cNvSpPr/>
          <p:nvPr/>
        </p:nvSpPr>
        <p:spPr>
          <a:xfrm>
            <a:off x="6227064" y="1883664"/>
            <a:ext cx="5230368" cy="841248"/>
          </a:xfrm>
          <a:prstGeom prst="roundRect">
            <a:avLst/>
          </a:prstGeom>
          <a:solidFill>
            <a:srgbClr val="FFFFFF"/>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6A34A"/>
                </a:solidFill>
                <a:latin typeface="Segoe UI"/>
              </a:defRPr>
            </a:pPr>
            <a:r>
              <a:t>✔  Job Management</a:t>
            </a:r>
          </a:p>
          <a:p>
            <a:pPr>
              <a:spcBef>
                <a:spcPts val="200"/>
              </a:spcBef>
              <a:defRPr sz="1150">
                <a:solidFill>
                  <a:srgbClr val="334155"/>
                </a:solidFill>
                <a:latin typeface="Segoe UI"/>
              </a:defRPr>
            </a:pPr>
            <a:r>
              <a:t>Recruiters can create, edit, publish, and close internship opportunities</a:t>
            </a:r>
          </a:p>
        </p:txBody>
      </p:sp>
      <p:sp>
        <p:nvSpPr>
          <p:cNvPr id="16" name="Rounded Rectangle 15"/>
          <p:cNvSpPr/>
          <p:nvPr/>
        </p:nvSpPr>
        <p:spPr>
          <a:xfrm>
            <a:off x="6227064" y="2807208"/>
            <a:ext cx="5230368" cy="841248"/>
          </a:xfrm>
          <a:prstGeom prst="roundRect">
            <a:avLst/>
          </a:prstGeom>
          <a:solidFill>
            <a:srgbClr val="FFFFFF"/>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6A34A"/>
                </a:solidFill>
                <a:latin typeface="Segoe UI"/>
              </a:defRPr>
            </a:pPr>
            <a:r>
              <a:t>✔  Applicant Evaluation Board</a:t>
            </a:r>
          </a:p>
          <a:p>
            <a:pPr>
              <a:spcBef>
                <a:spcPts val="200"/>
              </a:spcBef>
              <a:defRPr sz="1150">
                <a:solidFill>
                  <a:srgbClr val="334155"/>
                </a:solidFill>
                <a:latin typeface="Segoe UI"/>
              </a:defRPr>
            </a:pPr>
            <a:r>
              <a:t>Review profiles, download resumes, and toggle hiring status with 1-click</a:t>
            </a:r>
          </a:p>
        </p:txBody>
      </p:sp>
      <p:sp>
        <p:nvSpPr>
          <p:cNvPr id="17" name="Rounded Rectangle 16"/>
          <p:cNvSpPr/>
          <p:nvPr/>
        </p:nvSpPr>
        <p:spPr>
          <a:xfrm>
            <a:off x="6227064" y="3730752"/>
            <a:ext cx="5230368" cy="841248"/>
          </a:xfrm>
          <a:prstGeom prst="roundRect">
            <a:avLst/>
          </a:prstGeom>
          <a:solidFill>
            <a:srgbClr val="FFFFFF"/>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6A34A"/>
                </a:solidFill>
                <a:latin typeface="Segoe UI"/>
              </a:defRPr>
            </a:pPr>
            <a:r>
              <a:t>✔  Platform Moderation</a:t>
            </a:r>
          </a:p>
          <a:p>
            <a:pPr>
              <a:spcBef>
                <a:spcPts val="200"/>
              </a:spcBef>
              <a:defRPr sz="1150">
                <a:solidFill>
                  <a:srgbClr val="334155"/>
                </a:solidFill>
                <a:latin typeface="Segoe UI"/>
              </a:defRPr>
            </a:pPr>
            <a:r>
              <a:t>Admins verify recruiters, audit job postings, and manage user permissions</a:t>
            </a:r>
          </a:p>
        </p:txBody>
      </p:sp>
      <p:sp>
        <p:nvSpPr>
          <p:cNvPr id="18" name="Rounded Rectangle 17"/>
          <p:cNvSpPr/>
          <p:nvPr/>
        </p:nvSpPr>
        <p:spPr>
          <a:xfrm>
            <a:off x="6227064" y="4654296"/>
            <a:ext cx="5230368" cy="841248"/>
          </a:xfrm>
          <a:prstGeom prst="roundRect">
            <a:avLst/>
          </a:prstGeom>
          <a:solidFill>
            <a:srgbClr val="FFFFFF"/>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6A34A"/>
                </a:solidFill>
                <a:latin typeface="Segoe UI"/>
              </a:defRPr>
            </a:pPr>
            <a:r>
              <a:t>✔  System Analytics</a:t>
            </a:r>
          </a:p>
          <a:p>
            <a:pPr>
              <a:spcBef>
                <a:spcPts val="200"/>
              </a:spcBef>
              <a:defRPr sz="1150">
                <a:solidFill>
                  <a:srgbClr val="334155"/>
                </a:solidFill>
                <a:latin typeface="Segoe UI"/>
              </a:defRPr>
            </a:pPr>
            <a:r>
              <a:t>Oversee total placements, active postings, and user engagement metrics</a:t>
            </a:r>
          </a:p>
        </p:txBody>
      </p:sp>
      <p:sp>
        <p:nvSpPr>
          <p:cNvPr id="19" name="Rounded Rectangle 18"/>
          <p:cNvSpPr/>
          <p:nvPr/>
        </p:nvSpPr>
        <p:spPr>
          <a:xfrm>
            <a:off x="731520" y="5623560"/>
            <a:ext cx="10728655" cy="566928"/>
          </a:xfrm>
          <a:prstGeom prst="roundRect">
            <a:avLst/>
          </a:prstGeom>
          <a:solidFill>
            <a:srgbClr val="DCFCE7"/>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6A34A"/>
                </a:solidFill>
                <a:latin typeface="Segoe UI"/>
              </a:defRPr>
            </a:pPr>
            <a:r>
              <a:t>💡 Impact Summary: Strict data isolation and customized workflows for students, corporate recruiters, and college admins.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F"/>
          </a:solidFill>
          <a:ln>
            <a:solidFill>
              <a:srgbClr val="EE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4338CA"/>
          </a:solidFill>
          <a:ln>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327648"/>
            <a:ext cx="10728655" cy="18288"/>
          </a:xfrm>
          <a:prstGeom prst="rect">
            <a:avLst/>
          </a:prstGeom>
          <a:solidFill>
            <a:srgbClr val="C7D2FE"/>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64224"/>
            <a:ext cx="7772400" cy="347472"/>
          </a:xfrm>
          <a:prstGeom prst="rect">
            <a:avLst/>
          </a:prstGeom>
          <a:noFill/>
        </p:spPr>
        <p:txBody>
          <a:bodyPr wrap="square">
            <a:spAutoFit/>
          </a:bodyPr>
          <a:lstStyle/>
          <a:p>
            <a:pPr>
              <a:defRPr sz="1000">
                <a:solidFill>
                  <a:srgbClr val="334155"/>
                </a:solidFill>
                <a:latin typeface="Segoe UI"/>
              </a:defRPr>
            </a:pPr>
            <a:r>
              <a:t>INTERNHUB  •  Full-Stack Internship &amp; Recruitment Platform  •  NRCM / CSE-E</a:t>
            </a:r>
          </a:p>
        </p:txBody>
      </p:sp>
      <p:sp>
        <p:nvSpPr>
          <p:cNvPr id="6" name="TextBox 5"/>
          <p:cNvSpPr txBox="1"/>
          <p:nvPr/>
        </p:nvSpPr>
        <p:spPr>
          <a:xfrm>
            <a:off x="9601200" y="6364224"/>
            <a:ext cx="1858975" cy="347472"/>
          </a:xfrm>
          <a:prstGeom prst="rect">
            <a:avLst/>
          </a:prstGeom>
          <a:noFill/>
        </p:spPr>
        <p:txBody>
          <a:bodyPr wrap="none">
            <a:spAutoFit/>
          </a:bodyPr>
          <a:lstStyle/>
          <a:p>
            <a:pPr algn="r">
              <a:defRPr sz="1050" b="1">
                <a:solidFill>
                  <a:srgbClr val="4338CA"/>
                </a:solidFill>
                <a:latin typeface="Segoe UI"/>
              </a:defRPr>
            </a:pPr>
            <a:r>
              <a:t>Slide 6 of 11</a:t>
            </a:r>
          </a:p>
        </p:txBody>
      </p:sp>
      <p:sp>
        <p:nvSpPr>
          <p:cNvPr id="7" name="Rounded Rectangle 6"/>
          <p:cNvSpPr/>
          <p:nvPr/>
        </p:nvSpPr>
        <p:spPr>
          <a:xfrm>
            <a:off x="731520" y="384048"/>
            <a:ext cx="1188720" cy="320040"/>
          </a:xfrm>
          <a:prstGeom prst="roundRect">
            <a:avLst/>
          </a:prstGeom>
          <a:solidFill>
            <a:srgbClr val="E0E7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4338CA"/>
                </a:solidFill>
                <a:latin typeface="Segoe UI"/>
              </a:defRPr>
            </a:pPr>
            <a:r>
              <a:t>SLIDE 06</a:t>
            </a:r>
          </a:p>
        </p:txBody>
      </p:sp>
      <p:sp>
        <p:nvSpPr>
          <p:cNvPr id="8" name="TextBox 7"/>
          <p:cNvSpPr txBox="1"/>
          <p:nvPr/>
        </p:nvSpPr>
        <p:spPr>
          <a:xfrm>
            <a:off x="2057400" y="292608"/>
            <a:ext cx="9326880" cy="777240"/>
          </a:xfrm>
          <a:prstGeom prst="rect">
            <a:avLst/>
          </a:prstGeom>
          <a:noFill/>
        </p:spPr>
        <p:txBody>
          <a:bodyPr wrap="square">
            <a:spAutoFit/>
          </a:bodyPr>
          <a:lstStyle/>
          <a:p>
            <a:pPr>
              <a:defRPr sz="2200" b="1">
                <a:solidFill>
                  <a:srgbClr val="4338CA"/>
                </a:solidFill>
                <a:latin typeface="Segoe UI"/>
              </a:defRPr>
            </a:pPr>
            <a:r>
              <a:t>Key Features &amp; Functional Modules</a:t>
            </a:r>
          </a:p>
          <a:p>
            <a:pPr>
              <a:spcBef>
                <a:spcPts val="200"/>
              </a:spcBef>
              <a:defRPr sz="1200">
                <a:solidFill>
                  <a:srgbClr val="334155"/>
                </a:solidFill>
                <a:latin typeface="Segoe UI"/>
              </a:defRPr>
            </a:pPr>
            <a:r>
              <a:t>Core functional workflows powering user interaction and platform efficiency</a:t>
            </a:r>
          </a:p>
        </p:txBody>
      </p:sp>
      <p:sp>
        <p:nvSpPr>
          <p:cNvPr id="9" name="Rounded Rectangle 8"/>
          <p:cNvSpPr/>
          <p:nvPr/>
        </p:nvSpPr>
        <p:spPr>
          <a:xfrm>
            <a:off x="731520" y="1207008"/>
            <a:ext cx="5230368" cy="2084831"/>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87552" y="1408176"/>
            <a:ext cx="530352" cy="347472"/>
          </a:xfrm>
          <a:prstGeom prst="roundRect">
            <a:avLst/>
          </a:prstGeom>
          <a:solidFill>
            <a:srgbClr val="E0E7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Segoe UI"/>
              </a:defRPr>
            </a:pPr>
            <a:r>
              <a:t>01</a:t>
            </a:r>
          </a:p>
        </p:txBody>
      </p:sp>
      <p:sp>
        <p:nvSpPr>
          <p:cNvPr id="11" name="TextBox 10"/>
          <p:cNvSpPr txBox="1"/>
          <p:nvPr/>
        </p:nvSpPr>
        <p:spPr>
          <a:xfrm>
            <a:off x="1664208" y="1353312"/>
            <a:ext cx="4087368" cy="1856231"/>
          </a:xfrm>
          <a:prstGeom prst="rect">
            <a:avLst/>
          </a:prstGeom>
          <a:noFill/>
        </p:spPr>
        <p:txBody>
          <a:bodyPr wrap="square">
            <a:spAutoFit/>
          </a:bodyPr>
          <a:lstStyle/>
          <a:p>
            <a:pPr>
              <a:defRPr sz="1450" b="1">
                <a:solidFill>
                  <a:srgbClr val="4338CA"/>
                </a:solidFill>
                <a:latin typeface="Segoe UI"/>
              </a:defRPr>
            </a:pPr>
            <a:r>
              <a:t>Smart Search &amp; Filter Engine</a:t>
            </a:r>
          </a:p>
          <a:p>
            <a:pPr>
              <a:spcBef>
                <a:spcPts val="600"/>
              </a:spcBef>
              <a:defRPr sz="1250">
                <a:solidFill>
                  <a:srgbClr val="334155"/>
                </a:solidFill>
                <a:latin typeface="Segoe UI"/>
              </a:defRPr>
            </a:pPr>
            <a:r>
              <a:t>Multi-parameter query system supporting domain keywords, location (remote/hybrid/office), stipend range, and job duration.</a:t>
            </a:r>
          </a:p>
        </p:txBody>
      </p:sp>
      <p:sp>
        <p:nvSpPr>
          <p:cNvPr id="12" name="Rounded Rectangle 11"/>
          <p:cNvSpPr/>
          <p:nvPr/>
        </p:nvSpPr>
        <p:spPr>
          <a:xfrm>
            <a:off x="6227064" y="1207008"/>
            <a:ext cx="5230368" cy="2084831"/>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83096" y="1408176"/>
            <a:ext cx="530352" cy="347472"/>
          </a:xfrm>
          <a:prstGeom prst="roundRect">
            <a:avLst/>
          </a:prstGeom>
          <a:solidFill>
            <a:srgbClr val="E0E7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Segoe UI"/>
              </a:defRPr>
            </a:pPr>
            <a:r>
              <a:t>02</a:t>
            </a:r>
          </a:p>
        </p:txBody>
      </p:sp>
      <p:sp>
        <p:nvSpPr>
          <p:cNvPr id="14" name="TextBox 13"/>
          <p:cNvSpPr txBox="1"/>
          <p:nvPr/>
        </p:nvSpPr>
        <p:spPr>
          <a:xfrm>
            <a:off x="7159752" y="1353312"/>
            <a:ext cx="4087368" cy="1856231"/>
          </a:xfrm>
          <a:prstGeom prst="rect">
            <a:avLst/>
          </a:prstGeom>
          <a:noFill/>
        </p:spPr>
        <p:txBody>
          <a:bodyPr wrap="square">
            <a:spAutoFit/>
          </a:bodyPr>
          <a:lstStyle/>
          <a:p>
            <a:pPr>
              <a:defRPr sz="1450" b="1">
                <a:solidFill>
                  <a:srgbClr val="4338CA"/>
                </a:solidFill>
                <a:latin typeface="Segoe UI"/>
              </a:defRPr>
            </a:pPr>
            <a:r>
              <a:t>One-Click Application System</a:t>
            </a:r>
          </a:p>
          <a:p>
            <a:pPr>
              <a:spcBef>
                <a:spcPts val="600"/>
              </a:spcBef>
              <a:defRPr sz="1250">
                <a:solidFill>
                  <a:srgbClr val="334155"/>
                </a:solidFill>
                <a:latin typeface="Segoe UI"/>
              </a:defRPr>
            </a:pPr>
            <a:r>
              <a:t>Instant application submission linking uploaded student resume, GitHub/portfolio links, and customized cover notes.</a:t>
            </a:r>
          </a:p>
        </p:txBody>
      </p:sp>
      <p:sp>
        <p:nvSpPr>
          <p:cNvPr id="15" name="Rounded Rectangle 14"/>
          <p:cNvSpPr/>
          <p:nvPr/>
        </p:nvSpPr>
        <p:spPr>
          <a:xfrm>
            <a:off x="731520" y="3401568"/>
            <a:ext cx="5230368" cy="2084831"/>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87552" y="3602736"/>
            <a:ext cx="530352" cy="347472"/>
          </a:xfrm>
          <a:prstGeom prst="roundRect">
            <a:avLst/>
          </a:prstGeom>
          <a:solidFill>
            <a:srgbClr val="E0E7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Segoe UI"/>
              </a:defRPr>
            </a:pPr>
            <a:r>
              <a:t>03</a:t>
            </a:r>
          </a:p>
        </p:txBody>
      </p:sp>
      <p:sp>
        <p:nvSpPr>
          <p:cNvPr id="17" name="TextBox 16"/>
          <p:cNvSpPr txBox="1"/>
          <p:nvPr/>
        </p:nvSpPr>
        <p:spPr>
          <a:xfrm>
            <a:off x="1664208" y="3547872"/>
            <a:ext cx="4087368" cy="1856231"/>
          </a:xfrm>
          <a:prstGeom prst="rect">
            <a:avLst/>
          </a:prstGeom>
          <a:noFill/>
        </p:spPr>
        <p:txBody>
          <a:bodyPr wrap="square">
            <a:spAutoFit/>
          </a:bodyPr>
          <a:lstStyle/>
          <a:p>
            <a:pPr>
              <a:defRPr sz="1450" b="1">
                <a:solidFill>
                  <a:srgbClr val="4338CA"/>
                </a:solidFill>
                <a:latin typeface="Segoe UI"/>
              </a:defRPr>
            </a:pPr>
            <a:r>
              <a:t>Real-Time Application Pipeline</a:t>
            </a:r>
          </a:p>
          <a:p>
            <a:pPr>
              <a:spcBef>
                <a:spcPts val="600"/>
              </a:spcBef>
              <a:defRPr sz="1250">
                <a:solidFill>
                  <a:srgbClr val="334155"/>
                </a:solidFill>
                <a:latin typeface="Segoe UI"/>
              </a:defRPr>
            </a:pPr>
            <a:r>
              <a:t>Transparent status transitions: Applied ➔ In Review ➔ Shortlisted ➔ Decision with timestamped updates.</a:t>
            </a:r>
          </a:p>
        </p:txBody>
      </p:sp>
      <p:sp>
        <p:nvSpPr>
          <p:cNvPr id="18" name="Rounded Rectangle 17"/>
          <p:cNvSpPr/>
          <p:nvPr/>
        </p:nvSpPr>
        <p:spPr>
          <a:xfrm>
            <a:off x="6227064" y="3401568"/>
            <a:ext cx="5230368" cy="2084831"/>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83096" y="3602736"/>
            <a:ext cx="530352" cy="347472"/>
          </a:xfrm>
          <a:prstGeom prst="roundRect">
            <a:avLst/>
          </a:prstGeom>
          <a:solidFill>
            <a:srgbClr val="E0E7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Segoe UI"/>
              </a:defRPr>
            </a:pPr>
            <a:r>
              <a:t>04</a:t>
            </a:r>
          </a:p>
        </p:txBody>
      </p:sp>
      <p:sp>
        <p:nvSpPr>
          <p:cNvPr id="20" name="TextBox 19"/>
          <p:cNvSpPr txBox="1"/>
          <p:nvPr/>
        </p:nvSpPr>
        <p:spPr>
          <a:xfrm>
            <a:off x="7159752" y="3547872"/>
            <a:ext cx="4087368" cy="1856231"/>
          </a:xfrm>
          <a:prstGeom prst="rect">
            <a:avLst/>
          </a:prstGeom>
          <a:noFill/>
        </p:spPr>
        <p:txBody>
          <a:bodyPr wrap="square">
            <a:spAutoFit/>
          </a:bodyPr>
          <a:lstStyle/>
          <a:p>
            <a:pPr>
              <a:defRPr sz="1450" b="1">
                <a:solidFill>
                  <a:srgbClr val="4338CA"/>
                </a:solidFill>
                <a:latin typeface="Segoe UI"/>
              </a:defRPr>
            </a:pPr>
            <a:r>
              <a:t>Recruiter Decision Workspace</a:t>
            </a:r>
          </a:p>
          <a:p>
            <a:pPr>
              <a:spcBef>
                <a:spcPts val="600"/>
              </a:spcBef>
              <a:defRPr sz="1250">
                <a:solidFill>
                  <a:srgbClr val="334155"/>
                </a:solidFill>
                <a:latin typeface="Segoe UI"/>
              </a:defRPr>
            </a:pPr>
            <a:r>
              <a:t>Kanban/Table style candidate evaluation board allowing recruiters to review profiles, preview resumes, and toggle hiring status.</a:t>
            </a:r>
          </a:p>
        </p:txBody>
      </p:sp>
      <p:sp>
        <p:nvSpPr>
          <p:cNvPr id="21" name="Rounded Rectangle 20"/>
          <p:cNvSpPr/>
          <p:nvPr/>
        </p:nvSpPr>
        <p:spPr>
          <a:xfrm>
            <a:off x="731520" y="5623560"/>
            <a:ext cx="10728655" cy="566928"/>
          </a:xfrm>
          <a:prstGeom prst="roundRect">
            <a:avLst/>
          </a:prstGeom>
          <a:solidFill>
            <a:srgbClr val="E0E7FF"/>
          </a:solidFill>
          <a:ln w="1524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4338CA"/>
                </a:solidFill>
                <a:latin typeface="Segoe UI"/>
              </a:defRPr>
            </a:pPr>
            <a:r>
              <a:t>💡 Impact Summary: Streamlines the hiring process from candidate discovery to final offer confirmation.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FF"/>
          </a:solidFill>
          <a:ln>
            <a:solidFill>
              <a:srgbClr val="F5F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6D28D9"/>
          </a:solidFill>
          <a:ln>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327648"/>
            <a:ext cx="10728655" cy="18288"/>
          </a:xfrm>
          <a:prstGeom prst="rect">
            <a:avLst/>
          </a:prstGeom>
          <a:solidFill>
            <a:srgbClr val="DDD6FE"/>
          </a:solidFill>
          <a:ln>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64224"/>
            <a:ext cx="7772400" cy="347472"/>
          </a:xfrm>
          <a:prstGeom prst="rect">
            <a:avLst/>
          </a:prstGeom>
          <a:noFill/>
        </p:spPr>
        <p:txBody>
          <a:bodyPr wrap="square">
            <a:spAutoFit/>
          </a:bodyPr>
          <a:lstStyle/>
          <a:p>
            <a:pPr>
              <a:defRPr sz="1000">
                <a:solidFill>
                  <a:srgbClr val="334155"/>
                </a:solidFill>
                <a:latin typeface="Segoe UI"/>
              </a:defRPr>
            </a:pPr>
            <a:r>
              <a:t>INTERNHUB  •  Full-Stack Internship &amp; Recruitment Platform  •  NRCM / CSE-E</a:t>
            </a:r>
          </a:p>
        </p:txBody>
      </p:sp>
      <p:sp>
        <p:nvSpPr>
          <p:cNvPr id="6" name="TextBox 5"/>
          <p:cNvSpPr txBox="1"/>
          <p:nvPr/>
        </p:nvSpPr>
        <p:spPr>
          <a:xfrm>
            <a:off x="9601200" y="6364224"/>
            <a:ext cx="1858975" cy="347472"/>
          </a:xfrm>
          <a:prstGeom prst="rect">
            <a:avLst/>
          </a:prstGeom>
          <a:noFill/>
        </p:spPr>
        <p:txBody>
          <a:bodyPr wrap="none">
            <a:spAutoFit/>
          </a:bodyPr>
          <a:lstStyle/>
          <a:p>
            <a:pPr algn="r">
              <a:defRPr sz="1050" b="1">
                <a:solidFill>
                  <a:srgbClr val="6D28D9"/>
                </a:solidFill>
                <a:latin typeface="Segoe UI"/>
              </a:defRPr>
            </a:pPr>
            <a:r>
              <a:t>Slide 7 of 11</a:t>
            </a:r>
          </a:p>
        </p:txBody>
      </p:sp>
      <p:sp>
        <p:nvSpPr>
          <p:cNvPr id="7" name="Rounded Rectangle 6"/>
          <p:cNvSpPr/>
          <p:nvPr/>
        </p:nvSpPr>
        <p:spPr>
          <a:xfrm>
            <a:off x="731520" y="384048"/>
            <a:ext cx="1188720" cy="320040"/>
          </a:xfrm>
          <a:prstGeom prst="roundRect">
            <a:avLst/>
          </a:prstGeom>
          <a:solidFill>
            <a:srgbClr val="EDE9FE"/>
          </a:solidFill>
          <a:ln>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6D28D9"/>
                </a:solidFill>
                <a:latin typeface="Segoe UI"/>
              </a:defRPr>
            </a:pPr>
            <a:r>
              <a:t>SLIDE 07</a:t>
            </a:r>
          </a:p>
        </p:txBody>
      </p:sp>
      <p:sp>
        <p:nvSpPr>
          <p:cNvPr id="8" name="TextBox 7"/>
          <p:cNvSpPr txBox="1"/>
          <p:nvPr/>
        </p:nvSpPr>
        <p:spPr>
          <a:xfrm>
            <a:off x="2057400" y="292608"/>
            <a:ext cx="9326880" cy="777240"/>
          </a:xfrm>
          <a:prstGeom prst="rect">
            <a:avLst/>
          </a:prstGeom>
          <a:noFill/>
        </p:spPr>
        <p:txBody>
          <a:bodyPr wrap="square">
            <a:spAutoFit/>
          </a:bodyPr>
          <a:lstStyle/>
          <a:p>
            <a:pPr>
              <a:defRPr sz="2200" b="1">
                <a:solidFill>
                  <a:srgbClr val="6D28D9"/>
                </a:solidFill>
                <a:latin typeface="Segoe UI"/>
              </a:defRPr>
            </a:pPr>
            <a:r>
              <a:t>Database Design &amp; Data Modeling</a:t>
            </a:r>
          </a:p>
          <a:p>
            <a:pPr>
              <a:spcBef>
                <a:spcPts val="200"/>
              </a:spcBef>
              <a:defRPr sz="1200">
                <a:solidFill>
                  <a:srgbClr val="334155"/>
                </a:solidFill>
                <a:latin typeface="Segoe UI"/>
              </a:defRPr>
            </a:pPr>
            <a:r>
              <a:t>Optimized MongoDB Collections with relational references and compound indexing</a:t>
            </a:r>
          </a:p>
        </p:txBody>
      </p:sp>
      <p:sp>
        <p:nvSpPr>
          <p:cNvPr id="9" name="Rounded Rectangle 8"/>
          <p:cNvSpPr/>
          <p:nvPr/>
        </p:nvSpPr>
        <p:spPr>
          <a:xfrm>
            <a:off x="731520" y="1188720"/>
            <a:ext cx="5230368" cy="621792"/>
          </a:xfrm>
          <a:prstGeom prst="roundRect">
            <a:avLst/>
          </a:prstGeom>
          <a:solidFill>
            <a:srgbClr val="6D28D9"/>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50" b="1">
                <a:solidFill>
                  <a:srgbClr val="FFFFFF"/>
                </a:solidFill>
                <a:latin typeface="Segoe UI"/>
              </a:defRPr>
            </a:pPr>
            <a:r>
              <a:t>Core Database Collections</a:t>
            </a:r>
          </a:p>
        </p:txBody>
      </p:sp>
      <p:sp>
        <p:nvSpPr>
          <p:cNvPr id="10" name="Rounded Rectangle 9"/>
          <p:cNvSpPr/>
          <p:nvPr/>
        </p:nvSpPr>
        <p:spPr>
          <a:xfrm>
            <a:off x="731520" y="1883664"/>
            <a:ext cx="5230368" cy="841248"/>
          </a:xfrm>
          <a:prstGeom prst="roundRect">
            <a:avLst/>
          </a:prstGeom>
          <a:solidFill>
            <a:srgbClr val="FFFFFF"/>
          </a:solidFill>
          <a:ln w="1524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6D28D9"/>
                </a:solidFill>
                <a:latin typeface="Segoe UI"/>
              </a:defRPr>
            </a:pPr>
            <a:r>
              <a:t>✔  Users Collection</a:t>
            </a:r>
          </a:p>
          <a:p>
            <a:pPr>
              <a:spcBef>
                <a:spcPts val="200"/>
              </a:spcBef>
              <a:defRPr sz="1150">
                <a:solidFill>
                  <a:srgbClr val="334155"/>
                </a:solidFill>
                <a:latin typeface="Segoe UI"/>
              </a:defRPr>
            </a:pPr>
            <a:r>
              <a:t>Stores credentials, hashed passwords, user roles (Student/Employer/Admin), and profiles</a:t>
            </a:r>
          </a:p>
        </p:txBody>
      </p:sp>
      <p:sp>
        <p:nvSpPr>
          <p:cNvPr id="11" name="Rounded Rectangle 10"/>
          <p:cNvSpPr/>
          <p:nvPr/>
        </p:nvSpPr>
        <p:spPr>
          <a:xfrm>
            <a:off x="731520" y="2807208"/>
            <a:ext cx="5230368" cy="841248"/>
          </a:xfrm>
          <a:prstGeom prst="roundRect">
            <a:avLst/>
          </a:prstGeom>
          <a:solidFill>
            <a:srgbClr val="FFFFFF"/>
          </a:solidFill>
          <a:ln w="1524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6D28D9"/>
                </a:solidFill>
                <a:latin typeface="Segoe UI"/>
              </a:defRPr>
            </a:pPr>
            <a:r>
              <a:t>✔  Internships Collection</a:t>
            </a:r>
          </a:p>
          <a:p>
            <a:pPr>
              <a:spcBef>
                <a:spcPts val="200"/>
              </a:spcBef>
              <a:defRPr sz="1150">
                <a:solidFill>
                  <a:srgbClr val="334155"/>
                </a:solidFill>
                <a:latin typeface="Segoe UI"/>
              </a:defRPr>
            </a:pPr>
            <a:r>
              <a:t>Job title, company, recruiter reference, requirements, stipend, location, and deadlines</a:t>
            </a:r>
          </a:p>
        </p:txBody>
      </p:sp>
      <p:sp>
        <p:nvSpPr>
          <p:cNvPr id="12" name="Rounded Rectangle 11"/>
          <p:cNvSpPr/>
          <p:nvPr/>
        </p:nvSpPr>
        <p:spPr>
          <a:xfrm>
            <a:off x="731520" y="3730752"/>
            <a:ext cx="5230368" cy="841248"/>
          </a:xfrm>
          <a:prstGeom prst="roundRect">
            <a:avLst/>
          </a:prstGeom>
          <a:solidFill>
            <a:srgbClr val="FFFFFF"/>
          </a:solidFill>
          <a:ln w="1524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6D28D9"/>
                </a:solidFill>
                <a:latin typeface="Segoe UI"/>
              </a:defRPr>
            </a:pPr>
            <a:r>
              <a:t>✔  Applications Collection</a:t>
            </a:r>
          </a:p>
          <a:p>
            <a:pPr>
              <a:spcBef>
                <a:spcPts val="200"/>
              </a:spcBef>
              <a:defRPr sz="1150">
                <a:solidFill>
                  <a:srgbClr val="334155"/>
                </a:solidFill>
                <a:latin typeface="Segoe UI"/>
              </a:defRPr>
            </a:pPr>
            <a:r>
              <a:t>Relational junction linking Candidate ID, Internship ID, resume URL, and status enum</a:t>
            </a:r>
          </a:p>
        </p:txBody>
      </p:sp>
      <p:sp>
        <p:nvSpPr>
          <p:cNvPr id="13" name="Rounded Rectangle 12"/>
          <p:cNvSpPr/>
          <p:nvPr/>
        </p:nvSpPr>
        <p:spPr>
          <a:xfrm>
            <a:off x="731520" y="4654296"/>
            <a:ext cx="5230368" cy="841248"/>
          </a:xfrm>
          <a:prstGeom prst="roundRect">
            <a:avLst/>
          </a:prstGeom>
          <a:solidFill>
            <a:srgbClr val="FFFFFF"/>
          </a:solidFill>
          <a:ln w="1524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6D28D9"/>
                </a:solidFill>
                <a:latin typeface="Segoe UI"/>
              </a:defRPr>
            </a:pPr>
            <a:r>
              <a:t>✔  Notifications Collection</a:t>
            </a:r>
          </a:p>
          <a:p>
            <a:pPr>
              <a:spcBef>
                <a:spcPts val="200"/>
              </a:spcBef>
              <a:defRPr sz="1150">
                <a:solidFill>
                  <a:srgbClr val="334155"/>
                </a:solidFill>
                <a:latin typeface="Segoe UI"/>
              </a:defRPr>
            </a:pPr>
            <a:r>
              <a:t>System alerts, status update logs, timestamps, and user read-receipt tracking</a:t>
            </a:r>
          </a:p>
        </p:txBody>
      </p:sp>
      <p:sp>
        <p:nvSpPr>
          <p:cNvPr id="14" name="Rounded Rectangle 13"/>
          <p:cNvSpPr/>
          <p:nvPr/>
        </p:nvSpPr>
        <p:spPr>
          <a:xfrm>
            <a:off x="6227064" y="1188720"/>
            <a:ext cx="5230368" cy="621792"/>
          </a:xfrm>
          <a:prstGeom prst="roundRect">
            <a:avLst/>
          </a:prstGeom>
          <a:solidFill>
            <a:srgbClr val="6D28D9"/>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50" b="1">
                <a:solidFill>
                  <a:srgbClr val="FFFFFF"/>
                </a:solidFill>
                <a:latin typeface="Segoe UI"/>
              </a:defRPr>
            </a:pPr>
            <a:r>
              <a:t>Integrity &amp; Query Optimization</a:t>
            </a:r>
          </a:p>
        </p:txBody>
      </p:sp>
      <p:sp>
        <p:nvSpPr>
          <p:cNvPr id="15" name="Rounded Rectangle 14"/>
          <p:cNvSpPr/>
          <p:nvPr/>
        </p:nvSpPr>
        <p:spPr>
          <a:xfrm>
            <a:off x="6227064" y="1883664"/>
            <a:ext cx="5230368" cy="841248"/>
          </a:xfrm>
          <a:prstGeom prst="roundRect">
            <a:avLst/>
          </a:prstGeom>
          <a:solidFill>
            <a:srgbClr val="FFFFFF"/>
          </a:solidFill>
          <a:ln w="1524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6D28D9"/>
                </a:solidFill>
                <a:latin typeface="Segoe UI"/>
              </a:defRPr>
            </a:pPr>
            <a:r>
              <a:t>✔  Relational Referencing</a:t>
            </a:r>
          </a:p>
          <a:p>
            <a:pPr>
              <a:spcBef>
                <a:spcPts val="200"/>
              </a:spcBef>
              <a:defRPr sz="1150">
                <a:solidFill>
                  <a:srgbClr val="334155"/>
                </a:solidFill>
                <a:latin typeface="Segoe UI"/>
              </a:defRPr>
            </a:pPr>
            <a:r>
              <a:t>Normalized links via Mongoose ObjectId population for clean relational queries</a:t>
            </a:r>
          </a:p>
        </p:txBody>
      </p:sp>
      <p:sp>
        <p:nvSpPr>
          <p:cNvPr id="16" name="Rounded Rectangle 15"/>
          <p:cNvSpPr/>
          <p:nvPr/>
        </p:nvSpPr>
        <p:spPr>
          <a:xfrm>
            <a:off x="6227064" y="2807208"/>
            <a:ext cx="5230368" cy="841248"/>
          </a:xfrm>
          <a:prstGeom prst="roundRect">
            <a:avLst/>
          </a:prstGeom>
          <a:solidFill>
            <a:srgbClr val="FFFFFF"/>
          </a:solidFill>
          <a:ln w="1524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6D28D9"/>
                </a:solidFill>
                <a:latin typeface="Segoe UI"/>
              </a:defRPr>
            </a:pPr>
            <a:r>
              <a:t>✔  Compound Indexing</a:t>
            </a:r>
          </a:p>
          <a:p>
            <a:pPr>
              <a:spcBef>
                <a:spcPts val="200"/>
              </a:spcBef>
              <a:defRPr sz="1150">
                <a:solidFill>
                  <a:srgbClr val="334155"/>
                </a:solidFill>
                <a:latin typeface="Segoe UI"/>
              </a:defRPr>
            </a:pPr>
            <a:r>
              <a:t>Indexed search keys on skills, location, and role achieving sub-50ms response times</a:t>
            </a:r>
          </a:p>
        </p:txBody>
      </p:sp>
      <p:sp>
        <p:nvSpPr>
          <p:cNvPr id="17" name="Rounded Rectangle 16"/>
          <p:cNvSpPr/>
          <p:nvPr/>
        </p:nvSpPr>
        <p:spPr>
          <a:xfrm>
            <a:off x="6227064" y="3730752"/>
            <a:ext cx="5230368" cy="841248"/>
          </a:xfrm>
          <a:prstGeom prst="roundRect">
            <a:avLst/>
          </a:prstGeom>
          <a:solidFill>
            <a:srgbClr val="FFFFFF"/>
          </a:solidFill>
          <a:ln w="1524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6D28D9"/>
                </a:solidFill>
                <a:latin typeface="Segoe UI"/>
              </a:defRPr>
            </a:pPr>
            <a:r>
              <a:t>✔  Schema Validation</a:t>
            </a:r>
          </a:p>
          <a:p>
            <a:pPr>
              <a:spcBef>
                <a:spcPts val="200"/>
              </a:spcBef>
              <a:defRPr sz="1150">
                <a:solidFill>
                  <a:srgbClr val="334155"/>
                </a:solidFill>
                <a:latin typeface="Segoe UI"/>
              </a:defRPr>
            </a:pPr>
            <a:r>
              <a:t>Strict enum state validation preventing invalid status transitions and corrupted records</a:t>
            </a:r>
          </a:p>
        </p:txBody>
      </p:sp>
      <p:sp>
        <p:nvSpPr>
          <p:cNvPr id="18" name="Rounded Rectangle 17"/>
          <p:cNvSpPr/>
          <p:nvPr/>
        </p:nvSpPr>
        <p:spPr>
          <a:xfrm>
            <a:off x="6227064" y="4654296"/>
            <a:ext cx="5230368" cy="841248"/>
          </a:xfrm>
          <a:prstGeom prst="roundRect">
            <a:avLst/>
          </a:prstGeom>
          <a:solidFill>
            <a:srgbClr val="FFFFFF"/>
          </a:solidFill>
          <a:ln w="1524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6D28D9"/>
                </a:solidFill>
                <a:latin typeface="Segoe UI"/>
              </a:defRPr>
            </a:pPr>
            <a:r>
              <a:t>✔  Cascading Cleanups</a:t>
            </a:r>
          </a:p>
          <a:p>
            <a:pPr>
              <a:spcBef>
                <a:spcPts val="200"/>
              </a:spcBef>
              <a:defRPr sz="1150">
                <a:solidFill>
                  <a:srgbClr val="334155"/>
                </a:solidFill>
                <a:latin typeface="Segoe UI"/>
              </a:defRPr>
            </a:pPr>
            <a:r>
              <a:t>Automated reference cleanup on internship closure or account termination</a:t>
            </a:r>
          </a:p>
        </p:txBody>
      </p:sp>
      <p:sp>
        <p:nvSpPr>
          <p:cNvPr id="19" name="Rounded Rectangle 18"/>
          <p:cNvSpPr/>
          <p:nvPr/>
        </p:nvSpPr>
        <p:spPr>
          <a:xfrm>
            <a:off x="731520" y="5623560"/>
            <a:ext cx="10728655" cy="566928"/>
          </a:xfrm>
          <a:prstGeom prst="roundRect">
            <a:avLst/>
          </a:prstGeom>
          <a:solidFill>
            <a:srgbClr val="EDE9FE"/>
          </a:solidFill>
          <a:ln w="1524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6D28D9"/>
                </a:solidFill>
                <a:latin typeface="Segoe UI"/>
              </a:defRPr>
            </a:pPr>
            <a:r>
              <a:t>💡 Impact Summary: MongoDB schema architecture delivers sub-second search speeds and reliable transactional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5FF"/>
          </a:solidFill>
          <a:ln>
            <a:solidFill>
              <a:srgbClr val="FAF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7E22CE"/>
          </a:solidFill>
          <a:ln>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327648"/>
            <a:ext cx="10728655" cy="18288"/>
          </a:xfrm>
          <a:prstGeom prst="rect">
            <a:avLst/>
          </a:prstGeom>
          <a:solidFill>
            <a:srgbClr val="E9D5FF"/>
          </a:solidFill>
          <a:ln>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64224"/>
            <a:ext cx="7772400" cy="347472"/>
          </a:xfrm>
          <a:prstGeom prst="rect">
            <a:avLst/>
          </a:prstGeom>
          <a:noFill/>
        </p:spPr>
        <p:txBody>
          <a:bodyPr wrap="square">
            <a:spAutoFit/>
          </a:bodyPr>
          <a:lstStyle/>
          <a:p>
            <a:pPr>
              <a:defRPr sz="1000">
                <a:solidFill>
                  <a:srgbClr val="334155"/>
                </a:solidFill>
                <a:latin typeface="Segoe UI"/>
              </a:defRPr>
            </a:pPr>
            <a:r>
              <a:t>INTERNHUB  •  Full-Stack Internship &amp; Recruitment Platform  •  NRCM / CSE-E</a:t>
            </a:r>
          </a:p>
        </p:txBody>
      </p:sp>
      <p:sp>
        <p:nvSpPr>
          <p:cNvPr id="6" name="TextBox 5"/>
          <p:cNvSpPr txBox="1"/>
          <p:nvPr/>
        </p:nvSpPr>
        <p:spPr>
          <a:xfrm>
            <a:off x="9601200" y="6364224"/>
            <a:ext cx="1858975" cy="347472"/>
          </a:xfrm>
          <a:prstGeom prst="rect">
            <a:avLst/>
          </a:prstGeom>
          <a:noFill/>
        </p:spPr>
        <p:txBody>
          <a:bodyPr wrap="none">
            <a:spAutoFit/>
          </a:bodyPr>
          <a:lstStyle/>
          <a:p>
            <a:pPr algn="r">
              <a:defRPr sz="1050" b="1">
                <a:solidFill>
                  <a:srgbClr val="7E22CE"/>
                </a:solidFill>
                <a:latin typeface="Segoe UI"/>
              </a:defRPr>
            </a:pPr>
            <a:r>
              <a:t>Slide 8 of 11</a:t>
            </a:r>
          </a:p>
        </p:txBody>
      </p:sp>
      <p:sp>
        <p:nvSpPr>
          <p:cNvPr id="7" name="Rounded Rectangle 6"/>
          <p:cNvSpPr/>
          <p:nvPr/>
        </p:nvSpPr>
        <p:spPr>
          <a:xfrm>
            <a:off x="731520" y="384048"/>
            <a:ext cx="1188720" cy="320040"/>
          </a:xfrm>
          <a:prstGeom prst="roundRect">
            <a:avLst/>
          </a:prstGeom>
          <a:solidFill>
            <a:srgbClr val="F3E8FF"/>
          </a:solidFill>
          <a:ln>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7E22CE"/>
                </a:solidFill>
                <a:latin typeface="Segoe UI"/>
              </a:defRPr>
            </a:pPr>
            <a:r>
              <a:t>SLIDE 08</a:t>
            </a:r>
          </a:p>
        </p:txBody>
      </p:sp>
      <p:sp>
        <p:nvSpPr>
          <p:cNvPr id="8" name="TextBox 7"/>
          <p:cNvSpPr txBox="1"/>
          <p:nvPr/>
        </p:nvSpPr>
        <p:spPr>
          <a:xfrm>
            <a:off x="2057400" y="292608"/>
            <a:ext cx="9326880" cy="777240"/>
          </a:xfrm>
          <a:prstGeom prst="rect">
            <a:avLst/>
          </a:prstGeom>
          <a:noFill/>
        </p:spPr>
        <p:txBody>
          <a:bodyPr wrap="square">
            <a:spAutoFit/>
          </a:bodyPr>
          <a:lstStyle/>
          <a:p>
            <a:pPr>
              <a:defRPr sz="2200" b="1">
                <a:solidFill>
                  <a:srgbClr val="7E22CE"/>
                </a:solidFill>
                <a:latin typeface="Segoe UI"/>
              </a:defRPr>
            </a:pPr>
            <a:r>
              <a:t>Security, Authentication &amp; Best Practices</a:t>
            </a:r>
          </a:p>
          <a:p>
            <a:pPr>
              <a:spcBef>
                <a:spcPts val="200"/>
              </a:spcBef>
              <a:defRPr sz="1200">
                <a:solidFill>
                  <a:srgbClr val="334155"/>
                </a:solidFill>
                <a:latin typeface="Segoe UI"/>
              </a:defRPr>
            </a:pPr>
            <a:r>
              <a:t>Multi-layered defense architecture securing credentials, sessions, and APIs</a:t>
            </a:r>
          </a:p>
        </p:txBody>
      </p:sp>
      <p:sp>
        <p:nvSpPr>
          <p:cNvPr id="9" name="Rounded Rectangle 8"/>
          <p:cNvSpPr/>
          <p:nvPr/>
        </p:nvSpPr>
        <p:spPr>
          <a:xfrm>
            <a:off x="731520" y="1188720"/>
            <a:ext cx="5230368" cy="621792"/>
          </a:xfrm>
          <a:prstGeom prst="roundRect">
            <a:avLst/>
          </a:prstGeom>
          <a:solidFill>
            <a:srgbClr val="7E22CE"/>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50" b="1">
                <a:solidFill>
                  <a:srgbClr val="FFFFFF"/>
                </a:solidFill>
                <a:latin typeface="Segoe UI"/>
              </a:defRPr>
            </a:pPr>
            <a:r>
              <a:t>Authentication &amp; Session Security</a:t>
            </a:r>
          </a:p>
        </p:txBody>
      </p:sp>
      <p:sp>
        <p:nvSpPr>
          <p:cNvPr id="10" name="Rounded Rectangle 9"/>
          <p:cNvSpPr/>
          <p:nvPr/>
        </p:nvSpPr>
        <p:spPr>
          <a:xfrm>
            <a:off x="731520" y="1883664"/>
            <a:ext cx="5230368" cy="841248"/>
          </a:xfrm>
          <a:prstGeom prst="roundRect">
            <a:avLst/>
          </a:prstGeom>
          <a:solidFill>
            <a:srgbClr val="FFFFFF"/>
          </a:solidFill>
          <a:ln w="1524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7E22CE"/>
                </a:solidFill>
                <a:latin typeface="Segoe UI"/>
              </a:defRPr>
            </a:pPr>
            <a:r>
              <a:t>✔  Bcrypt Password Hashing</a:t>
            </a:r>
          </a:p>
          <a:p>
            <a:pPr>
              <a:spcBef>
                <a:spcPts val="200"/>
              </a:spcBef>
              <a:defRPr sz="1150">
                <a:solidFill>
                  <a:srgbClr val="334155"/>
                </a:solidFill>
                <a:latin typeface="Segoe UI"/>
              </a:defRPr>
            </a:pPr>
            <a:r>
              <a:t>Adaptive salt rounds password encryption preventing plaintext credential leaks</a:t>
            </a:r>
          </a:p>
        </p:txBody>
      </p:sp>
      <p:sp>
        <p:nvSpPr>
          <p:cNvPr id="11" name="Rounded Rectangle 10"/>
          <p:cNvSpPr/>
          <p:nvPr/>
        </p:nvSpPr>
        <p:spPr>
          <a:xfrm>
            <a:off x="731520" y="2807208"/>
            <a:ext cx="5230368" cy="841248"/>
          </a:xfrm>
          <a:prstGeom prst="roundRect">
            <a:avLst/>
          </a:prstGeom>
          <a:solidFill>
            <a:srgbClr val="FFFFFF"/>
          </a:solidFill>
          <a:ln w="1524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7E22CE"/>
                </a:solidFill>
                <a:latin typeface="Segoe UI"/>
              </a:defRPr>
            </a:pPr>
            <a:r>
              <a:t>✔  Stateless JWT Tokens</a:t>
            </a:r>
          </a:p>
          <a:p>
            <a:pPr>
              <a:spcBef>
                <a:spcPts val="200"/>
              </a:spcBef>
              <a:defRPr sz="1150">
                <a:solidFill>
                  <a:srgbClr val="334155"/>
                </a:solidFill>
                <a:latin typeface="Segoe UI"/>
              </a:defRPr>
            </a:pPr>
            <a:r>
              <a:t>Digitally signed tokens verified on every protected API call via Bearer headers</a:t>
            </a:r>
          </a:p>
        </p:txBody>
      </p:sp>
      <p:sp>
        <p:nvSpPr>
          <p:cNvPr id="12" name="Rounded Rectangle 11"/>
          <p:cNvSpPr/>
          <p:nvPr/>
        </p:nvSpPr>
        <p:spPr>
          <a:xfrm>
            <a:off x="731520" y="3730752"/>
            <a:ext cx="5230368" cy="841248"/>
          </a:xfrm>
          <a:prstGeom prst="roundRect">
            <a:avLst/>
          </a:prstGeom>
          <a:solidFill>
            <a:srgbClr val="FFFFFF"/>
          </a:solidFill>
          <a:ln w="1524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7E22CE"/>
                </a:solidFill>
                <a:latin typeface="Segoe UI"/>
              </a:defRPr>
            </a:pPr>
            <a:r>
              <a:t>✔  Frontend Route Guards</a:t>
            </a:r>
          </a:p>
          <a:p>
            <a:pPr>
              <a:spcBef>
                <a:spcPts val="200"/>
              </a:spcBef>
              <a:defRPr sz="1150">
                <a:solidFill>
                  <a:srgbClr val="334155"/>
                </a:solidFill>
                <a:latin typeface="Segoe UI"/>
              </a:defRPr>
            </a:pPr>
            <a:r>
              <a:t>Automatic redirection and token verification preventing unauthorized URL visits</a:t>
            </a:r>
          </a:p>
        </p:txBody>
      </p:sp>
      <p:sp>
        <p:nvSpPr>
          <p:cNvPr id="13" name="Rounded Rectangle 12"/>
          <p:cNvSpPr/>
          <p:nvPr/>
        </p:nvSpPr>
        <p:spPr>
          <a:xfrm>
            <a:off x="731520" y="4654296"/>
            <a:ext cx="5230368" cy="841248"/>
          </a:xfrm>
          <a:prstGeom prst="roundRect">
            <a:avLst/>
          </a:prstGeom>
          <a:solidFill>
            <a:srgbClr val="FFFFFF"/>
          </a:solidFill>
          <a:ln w="1524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7E22CE"/>
                </a:solidFill>
                <a:latin typeface="Segoe UI"/>
              </a:defRPr>
            </a:pPr>
            <a:r>
              <a:t>✔  Role Verification Middleware</a:t>
            </a:r>
          </a:p>
          <a:p>
            <a:pPr>
              <a:spcBef>
                <a:spcPts val="200"/>
              </a:spcBef>
              <a:defRPr sz="1150">
                <a:solidFill>
                  <a:srgbClr val="334155"/>
                </a:solidFill>
                <a:latin typeface="Segoe UI"/>
              </a:defRPr>
            </a:pPr>
            <a:r>
              <a:t>Server-level RBAC checks ensuring students cannot invoke recruiter endpoints</a:t>
            </a:r>
          </a:p>
        </p:txBody>
      </p:sp>
      <p:sp>
        <p:nvSpPr>
          <p:cNvPr id="14" name="Rounded Rectangle 13"/>
          <p:cNvSpPr/>
          <p:nvPr/>
        </p:nvSpPr>
        <p:spPr>
          <a:xfrm>
            <a:off x="6227064" y="1188720"/>
            <a:ext cx="5230368" cy="621792"/>
          </a:xfrm>
          <a:prstGeom prst="roundRect">
            <a:avLst/>
          </a:prstGeom>
          <a:solidFill>
            <a:srgbClr val="7E22CE"/>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50" b="1">
                <a:solidFill>
                  <a:srgbClr val="FFFFFF"/>
                </a:solidFill>
                <a:latin typeface="Segoe UI"/>
              </a:defRPr>
            </a:pPr>
            <a:r>
              <a:t>Server Hardening &amp; Defenses</a:t>
            </a:r>
          </a:p>
        </p:txBody>
      </p:sp>
      <p:sp>
        <p:nvSpPr>
          <p:cNvPr id="15" name="Rounded Rectangle 14"/>
          <p:cNvSpPr/>
          <p:nvPr/>
        </p:nvSpPr>
        <p:spPr>
          <a:xfrm>
            <a:off x="6227064" y="1883664"/>
            <a:ext cx="5230368" cy="841248"/>
          </a:xfrm>
          <a:prstGeom prst="roundRect">
            <a:avLst/>
          </a:prstGeom>
          <a:solidFill>
            <a:srgbClr val="FFFFFF"/>
          </a:solidFill>
          <a:ln w="1524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7E22CE"/>
                </a:solidFill>
                <a:latin typeface="Segoe UI"/>
              </a:defRPr>
            </a:pPr>
            <a:r>
              <a:t>✔  Helmet.js Integration</a:t>
            </a:r>
          </a:p>
          <a:p>
            <a:pPr>
              <a:spcBef>
                <a:spcPts val="200"/>
              </a:spcBef>
              <a:defRPr sz="1150">
                <a:solidFill>
                  <a:srgbClr val="334155"/>
                </a:solidFill>
                <a:latin typeface="Segoe UI"/>
              </a:defRPr>
            </a:pPr>
            <a:r>
              <a:t>Sets robust HTTP security headers to protect against clickjacking and XSS attacks</a:t>
            </a:r>
          </a:p>
        </p:txBody>
      </p:sp>
      <p:sp>
        <p:nvSpPr>
          <p:cNvPr id="16" name="Rounded Rectangle 15"/>
          <p:cNvSpPr/>
          <p:nvPr/>
        </p:nvSpPr>
        <p:spPr>
          <a:xfrm>
            <a:off x="6227064" y="2807208"/>
            <a:ext cx="5230368" cy="841248"/>
          </a:xfrm>
          <a:prstGeom prst="roundRect">
            <a:avLst/>
          </a:prstGeom>
          <a:solidFill>
            <a:srgbClr val="FFFFFF"/>
          </a:solidFill>
          <a:ln w="1524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7E22CE"/>
                </a:solidFill>
                <a:latin typeface="Segoe UI"/>
              </a:defRPr>
            </a:pPr>
            <a:r>
              <a:t>✔  Express Rate Limiting</a:t>
            </a:r>
          </a:p>
          <a:p>
            <a:pPr>
              <a:spcBef>
                <a:spcPts val="200"/>
              </a:spcBef>
              <a:defRPr sz="1150">
                <a:solidFill>
                  <a:srgbClr val="334155"/>
                </a:solidFill>
                <a:latin typeface="Segoe UI"/>
              </a:defRPr>
            </a:pPr>
            <a:r>
              <a:t>Throttles repeated API requests to shield login endpoints from brute-force attacks</a:t>
            </a:r>
          </a:p>
        </p:txBody>
      </p:sp>
      <p:sp>
        <p:nvSpPr>
          <p:cNvPr id="17" name="Rounded Rectangle 16"/>
          <p:cNvSpPr/>
          <p:nvPr/>
        </p:nvSpPr>
        <p:spPr>
          <a:xfrm>
            <a:off x="6227064" y="3730752"/>
            <a:ext cx="5230368" cy="841248"/>
          </a:xfrm>
          <a:prstGeom prst="roundRect">
            <a:avLst/>
          </a:prstGeom>
          <a:solidFill>
            <a:srgbClr val="FFFFFF"/>
          </a:solidFill>
          <a:ln w="1524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7E22CE"/>
                </a:solidFill>
                <a:latin typeface="Segoe UI"/>
              </a:defRPr>
            </a:pPr>
            <a:r>
              <a:t>✔  Strict CORS Policies</a:t>
            </a:r>
          </a:p>
          <a:p>
            <a:pPr>
              <a:spcBef>
                <a:spcPts val="200"/>
              </a:spcBef>
              <a:defRPr sz="1150">
                <a:solidFill>
                  <a:srgbClr val="334155"/>
                </a:solidFill>
                <a:latin typeface="Segoe UI"/>
              </a:defRPr>
            </a:pPr>
            <a:r>
              <a:t>Restricts cross-origin resource sharing strictly to verified client domain origins</a:t>
            </a:r>
          </a:p>
        </p:txBody>
      </p:sp>
      <p:sp>
        <p:nvSpPr>
          <p:cNvPr id="18" name="Rounded Rectangle 17"/>
          <p:cNvSpPr/>
          <p:nvPr/>
        </p:nvSpPr>
        <p:spPr>
          <a:xfrm>
            <a:off x="6227064" y="4654296"/>
            <a:ext cx="5230368" cy="841248"/>
          </a:xfrm>
          <a:prstGeom prst="roundRect">
            <a:avLst/>
          </a:prstGeom>
          <a:solidFill>
            <a:srgbClr val="FFFFFF"/>
          </a:solidFill>
          <a:ln w="1524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7E22CE"/>
                </a:solidFill>
                <a:latin typeface="Segoe UI"/>
              </a:defRPr>
            </a:pPr>
            <a:r>
              <a:t>✔  Input Sanitization</a:t>
            </a:r>
          </a:p>
          <a:p>
            <a:pPr>
              <a:spcBef>
                <a:spcPts val="200"/>
              </a:spcBef>
              <a:defRPr sz="1150">
                <a:solidFill>
                  <a:srgbClr val="334155"/>
                </a:solidFill>
                <a:latin typeface="Segoe UI"/>
              </a:defRPr>
            </a:pPr>
            <a:r>
              <a:t>Validates and sanitizes request payloads to prevent NoSQL injection vulnerabilities</a:t>
            </a:r>
          </a:p>
        </p:txBody>
      </p:sp>
      <p:sp>
        <p:nvSpPr>
          <p:cNvPr id="19" name="Rounded Rectangle 18"/>
          <p:cNvSpPr/>
          <p:nvPr/>
        </p:nvSpPr>
        <p:spPr>
          <a:xfrm>
            <a:off x="731520" y="5623560"/>
            <a:ext cx="10728655" cy="566928"/>
          </a:xfrm>
          <a:prstGeom prst="roundRect">
            <a:avLst/>
          </a:prstGeom>
          <a:solidFill>
            <a:srgbClr val="F3E8FF"/>
          </a:solidFill>
          <a:ln w="1524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7E22CE"/>
                </a:solidFill>
                <a:latin typeface="Segoe UI"/>
              </a:defRPr>
            </a:pPr>
            <a:r>
              <a:t>💡 Impact Summary: Enterprise-grade security stack shielding against injection, session hijacking, and brute-force.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ED"/>
          </a:solidFill>
          <a:ln>
            <a:solidFill>
              <a:srgbClr val="FFF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C2410C"/>
          </a:solidFill>
          <a:ln>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327648"/>
            <a:ext cx="10728655" cy="18288"/>
          </a:xfrm>
          <a:prstGeom prst="rect">
            <a:avLst/>
          </a:prstGeom>
          <a:solidFill>
            <a:srgbClr val="FED7AA"/>
          </a:solidFill>
          <a:ln>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64224"/>
            <a:ext cx="7772400" cy="347472"/>
          </a:xfrm>
          <a:prstGeom prst="rect">
            <a:avLst/>
          </a:prstGeom>
          <a:noFill/>
        </p:spPr>
        <p:txBody>
          <a:bodyPr wrap="square">
            <a:spAutoFit/>
          </a:bodyPr>
          <a:lstStyle/>
          <a:p>
            <a:pPr>
              <a:defRPr sz="1000">
                <a:solidFill>
                  <a:srgbClr val="334155"/>
                </a:solidFill>
                <a:latin typeface="Segoe UI"/>
              </a:defRPr>
            </a:pPr>
            <a:r>
              <a:t>INTERNHUB  •  Full-Stack Internship &amp; Recruitment Platform  •  NRCM / CSE-E</a:t>
            </a:r>
          </a:p>
        </p:txBody>
      </p:sp>
      <p:sp>
        <p:nvSpPr>
          <p:cNvPr id="6" name="TextBox 5"/>
          <p:cNvSpPr txBox="1"/>
          <p:nvPr/>
        </p:nvSpPr>
        <p:spPr>
          <a:xfrm>
            <a:off x="9601200" y="6364224"/>
            <a:ext cx="1858975" cy="347472"/>
          </a:xfrm>
          <a:prstGeom prst="rect">
            <a:avLst/>
          </a:prstGeom>
          <a:noFill/>
        </p:spPr>
        <p:txBody>
          <a:bodyPr wrap="none">
            <a:spAutoFit/>
          </a:bodyPr>
          <a:lstStyle/>
          <a:p>
            <a:pPr algn="r">
              <a:defRPr sz="1050" b="1">
                <a:solidFill>
                  <a:srgbClr val="C2410C"/>
                </a:solidFill>
                <a:latin typeface="Segoe UI"/>
              </a:defRPr>
            </a:pPr>
            <a:r>
              <a:t>Slide 9 of 11</a:t>
            </a:r>
          </a:p>
        </p:txBody>
      </p:sp>
      <p:sp>
        <p:nvSpPr>
          <p:cNvPr id="7" name="Rounded Rectangle 6"/>
          <p:cNvSpPr/>
          <p:nvPr/>
        </p:nvSpPr>
        <p:spPr>
          <a:xfrm>
            <a:off x="731520" y="384048"/>
            <a:ext cx="1188720" cy="320040"/>
          </a:xfrm>
          <a:prstGeom prst="roundRect">
            <a:avLst/>
          </a:prstGeom>
          <a:solidFill>
            <a:srgbClr val="FFEDD5"/>
          </a:solidFill>
          <a:ln>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C2410C"/>
                </a:solidFill>
                <a:latin typeface="Segoe UI"/>
              </a:defRPr>
            </a:pPr>
            <a:r>
              <a:t>SLIDE 09</a:t>
            </a:r>
          </a:p>
        </p:txBody>
      </p:sp>
      <p:sp>
        <p:nvSpPr>
          <p:cNvPr id="8" name="TextBox 7"/>
          <p:cNvSpPr txBox="1"/>
          <p:nvPr/>
        </p:nvSpPr>
        <p:spPr>
          <a:xfrm>
            <a:off x="2057400" y="292608"/>
            <a:ext cx="9326880" cy="777240"/>
          </a:xfrm>
          <a:prstGeom prst="rect">
            <a:avLst/>
          </a:prstGeom>
          <a:noFill/>
        </p:spPr>
        <p:txBody>
          <a:bodyPr wrap="square">
            <a:spAutoFit/>
          </a:bodyPr>
          <a:lstStyle/>
          <a:p>
            <a:pPr>
              <a:defRPr sz="2200" b="1">
                <a:solidFill>
                  <a:srgbClr val="C2410C"/>
                </a:solidFill>
                <a:latin typeface="Segoe UI"/>
              </a:defRPr>
            </a:pPr>
            <a:r>
              <a:t>UI/UX &amp; Frontend Engineering</a:t>
            </a:r>
          </a:p>
          <a:p>
            <a:pPr>
              <a:spcBef>
                <a:spcPts val="200"/>
              </a:spcBef>
              <a:defRPr sz="1200">
                <a:solidFill>
                  <a:srgbClr val="334155"/>
                </a:solidFill>
                <a:latin typeface="Segoe UI"/>
              </a:defRPr>
            </a:pPr>
            <a:r>
              <a:t>Crafting a responsive, accessible, and high-performance user interface</a:t>
            </a:r>
          </a:p>
        </p:txBody>
      </p:sp>
      <p:sp>
        <p:nvSpPr>
          <p:cNvPr id="9" name="Rounded Rectangle 8"/>
          <p:cNvSpPr/>
          <p:nvPr/>
        </p:nvSpPr>
        <p:spPr>
          <a:xfrm>
            <a:off x="731520" y="1207008"/>
            <a:ext cx="5230368" cy="2084831"/>
          </a:xfrm>
          <a:prstGeom prst="roundRect">
            <a:avLst/>
          </a:prstGeom>
          <a:solidFill>
            <a:srgbClr val="FFFFFF"/>
          </a:solidFill>
          <a:ln w="1905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87552" y="1408176"/>
            <a:ext cx="530352" cy="347472"/>
          </a:xfrm>
          <a:prstGeom prst="roundRect">
            <a:avLst/>
          </a:prstGeom>
          <a:solidFill>
            <a:srgbClr val="FFEDD5"/>
          </a:solidFill>
          <a:ln>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C2410C"/>
                </a:solidFill>
                <a:latin typeface="Segoe UI"/>
              </a:defRPr>
            </a:pPr>
            <a:r>
              <a:t>01</a:t>
            </a:r>
          </a:p>
        </p:txBody>
      </p:sp>
      <p:sp>
        <p:nvSpPr>
          <p:cNvPr id="11" name="TextBox 10"/>
          <p:cNvSpPr txBox="1"/>
          <p:nvPr/>
        </p:nvSpPr>
        <p:spPr>
          <a:xfrm>
            <a:off x="1664208" y="1353312"/>
            <a:ext cx="4087368" cy="1856231"/>
          </a:xfrm>
          <a:prstGeom prst="rect">
            <a:avLst/>
          </a:prstGeom>
          <a:noFill/>
        </p:spPr>
        <p:txBody>
          <a:bodyPr wrap="square">
            <a:spAutoFit/>
          </a:bodyPr>
          <a:lstStyle/>
          <a:p>
            <a:pPr>
              <a:defRPr sz="1450" b="1">
                <a:solidFill>
                  <a:srgbClr val="C2410C"/>
                </a:solidFill>
                <a:latin typeface="Segoe UI"/>
              </a:defRPr>
            </a:pPr>
            <a:r>
              <a:t>Component-Driven Architecture</a:t>
            </a:r>
          </a:p>
          <a:p>
            <a:pPr>
              <a:spcBef>
                <a:spcPts val="600"/>
              </a:spcBef>
              <a:defRPr sz="1250">
                <a:solidFill>
                  <a:srgbClr val="334155"/>
                </a:solidFill>
                <a:latin typeface="Segoe UI"/>
              </a:defRPr>
            </a:pPr>
            <a:r>
              <a:t>Modular React components (Cards, Modals, Status Badges, Toast Alerts, Tables) ensuring UI consistency and easy maintainability across all pages.</a:t>
            </a:r>
          </a:p>
        </p:txBody>
      </p:sp>
      <p:sp>
        <p:nvSpPr>
          <p:cNvPr id="12" name="Rounded Rectangle 11"/>
          <p:cNvSpPr/>
          <p:nvPr/>
        </p:nvSpPr>
        <p:spPr>
          <a:xfrm>
            <a:off x="6227064" y="1207008"/>
            <a:ext cx="5230368" cy="2084831"/>
          </a:xfrm>
          <a:prstGeom prst="roundRect">
            <a:avLst/>
          </a:prstGeom>
          <a:solidFill>
            <a:srgbClr val="FFFFFF"/>
          </a:solidFill>
          <a:ln w="1905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83096" y="1408176"/>
            <a:ext cx="530352" cy="347472"/>
          </a:xfrm>
          <a:prstGeom prst="roundRect">
            <a:avLst/>
          </a:prstGeom>
          <a:solidFill>
            <a:srgbClr val="FFEDD5"/>
          </a:solidFill>
          <a:ln>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C2410C"/>
                </a:solidFill>
                <a:latin typeface="Segoe UI"/>
              </a:defRPr>
            </a:pPr>
            <a:r>
              <a:t>02</a:t>
            </a:r>
          </a:p>
        </p:txBody>
      </p:sp>
      <p:sp>
        <p:nvSpPr>
          <p:cNvPr id="14" name="TextBox 13"/>
          <p:cNvSpPr txBox="1"/>
          <p:nvPr/>
        </p:nvSpPr>
        <p:spPr>
          <a:xfrm>
            <a:off x="7159752" y="1353312"/>
            <a:ext cx="4087368" cy="1856231"/>
          </a:xfrm>
          <a:prstGeom prst="rect">
            <a:avLst/>
          </a:prstGeom>
          <a:noFill/>
        </p:spPr>
        <p:txBody>
          <a:bodyPr wrap="square">
            <a:spAutoFit/>
          </a:bodyPr>
          <a:lstStyle/>
          <a:p>
            <a:pPr>
              <a:defRPr sz="1450" b="1">
                <a:solidFill>
                  <a:srgbClr val="C2410C"/>
                </a:solidFill>
                <a:latin typeface="Segoe UI"/>
              </a:defRPr>
            </a:pPr>
            <a:r>
              <a:t>Cross-Device Responsiveness</a:t>
            </a:r>
          </a:p>
          <a:p>
            <a:pPr>
              <a:spcBef>
                <a:spcPts val="600"/>
              </a:spcBef>
              <a:defRPr sz="1250">
                <a:solidFill>
                  <a:srgbClr val="334155"/>
                </a:solidFill>
                <a:latin typeface="Segoe UI"/>
              </a:defRPr>
            </a:pPr>
            <a:r>
              <a:t>Fluid layout design optimized for mobile smartphones, tablets, and wide-screen desktop displays using TailwindCSS breakpoints.</a:t>
            </a:r>
          </a:p>
        </p:txBody>
      </p:sp>
      <p:sp>
        <p:nvSpPr>
          <p:cNvPr id="15" name="Rounded Rectangle 14"/>
          <p:cNvSpPr/>
          <p:nvPr/>
        </p:nvSpPr>
        <p:spPr>
          <a:xfrm>
            <a:off x="731520" y="3401568"/>
            <a:ext cx="5230368" cy="2084831"/>
          </a:xfrm>
          <a:prstGeom prst="roundRect">
            <a:avLst/>
          </a:prstGeom>
          <a:solidFill>
            <a:srgbClr val="FFFFFF"/>
          </a:solidFill>
          <a:ln w="1905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87552" y="3602736"/>
            <a:ext cx="530352" cy="347472"/>
          </a:xfrm>
          <a:prstGeom prst="roundRect">
            <a:avLst/>
          </a:prstGeom>
          <a:solidFill>
            <a:srgbClr val="FFEDD5"/>
          </a:solidFill>
          <a:ln>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C2410C"/>
                </a:solidFill>
                <a:latin typeface="Segoe UI"/>
              </a:defRPr>
            </a:pPr>
            <a:r>
              <a:t>03</a:t>
            </a:r>
          </a:p>
        </p:txBody>
      </p:sp>
      <p:sp>
        <p:nvSpPr>
          <p:cNvPr id="17" name="TextBox 16"/>
          <p:cNvSpPr txBox="1"/>
          <p:nvPr/>
        </p:nvSpPr>
        <p:spPr>
          <a:xfrm>
            <a:off x="1664208" y="3547872"/>
            <a:ext cx="4087368" cy="1856231"/>
          </a:xfrm>
          <a:prstGeom prst="rect">
            <a:avLst/>
          </a:prstGeom>
          <a:noFill/>
        </p:spPr>
        <p:txBody>
          <a:bodyPr wrap="square">
            <a:spAutoFit/>
          </a:bodyPr>
          <a:lstStyle/>
          <a:p>
            <a:pPr>
              <a:defRPr sz="1450" b="1">
                <a:solidFill>
                  <a:srgbClr val="C2410C"/>
                </a:solidFill>
                <a:latin typeface="Segoe UI"/>
              </a:defRPr>
            </a:pPr>
            <a:r>
              <a:t>Interactive State Management</a:t>
            </a:r>
          </a:p>
          <a:p>
            <a:pPr>
              <a:spcBef>
                <a:spcPts val="600"/>
              </a:spcBef>
              <a:defRPr sz="1250">
                <a:solidFill>
                  <a:srgbClr val="334155"/>
                </a:solidFill>
                <a:latin typeface="Segoe UI"/>
              </a:defRPr>
            </a:pPr>
            <a:r>
              <a:t>Instant UI feedback upon applying or updating candidate statuses without requiring full-page browser reloads.</a:t>
            </a:r>
          </a:p>
        </p:txBody>
      </p:sp>
      <p:sp>
        <p:nvSpPr>
          <p:cNvPr id="18" name="Rounded Rectangle 17"/>
          <p:cNvSpPr/>
          <p:nvPr/>
        </p:nvSpPr>
        <p:spPr>
          <a:xfrm>
            <a:off x="6227064" y="3401568"/>
            <a:ext cx="5230368" cy="2084831"/>
          </a:xfrm>
          <a:prstGeom prst="roundRect">
            <a:avLst/>
          </a:prstGeom>
          <a:solidFill>
            <a:srgbClr val="FFFFFF"/>
          </a:solidFill>
          <a:ln w="1905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83096" y="3602736"/>
            <a:ext cx="530352" cy="347472"/>
          </a:xfrm>
          <a:prstGeom prst="roundRect">
            <a:avLst/>
          </a:prstGeom>
          <a:solidFill>
            <a:srgbClr val="FFEDD5"/>
          </a:solidFill>
          <a:ln>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C2410C"/>
                </a:solidFill>
                <a:latin typeface="Segoe UI"/>
              </a:defRPr>
            </a:pPr>
            <a:r>
              <a:t>04</a:t>
            </a:r>
          </a:p>
        </p:txBody>
      </p:sp>
      <p:sp>
        <p:nvSpPr>
          <p:cNvPr id="20" name="TextBox 19"/>
          <p:cNvSpPr txBox="1"/>
          <p:nvPr/>
        </p:nvSpPr>
        <p:spPr>
          <a:xfrm>
            <a:off x="7159752" y="3547872"/>
            <a:ext cx="4087368" cy="1856231"/>
          </a:xfrm>
          <a:prstGeom prst="rect">
            <a:avLst/>
          </a:prstGeom>
          <a:noFill/>
        </p:spPr>
        <p:txBody>
          <a:bodyPr wrap="square">
            <a:spAutoFit/>
          </a:bodyPr>
          <a:lstStyle/>
          <a:p>
            <a:pPr>
              <a:defRPr sz="1450" b="1">
                <a:solidFill>
                  <a:srgbClr val="C2410C"/>
                </a:solidFill>
                <a:latin typeface="Segoe UI"/>
              </a:defRPr>
            </a:pPr>
            <a:r>
              <a:t>SEO &amp; Fast Asset Loading</a:t>
            </a:r>
          </a:p>
          <a:p>
            <a:pPr>
              <a:spcBef>
                <a:spcPts val="600"/>
              </a:spcBef>
              <a:defRPr sz="1250">
                <a:solidFill>
                  <a:srgbClr val="334155"/>
                </a:solidFill>
                <a:latin typeface="Segoe UI"/>
              </a:defRPr>
            </a:pPr>
            <a:r>
              <a:t>Dynamic OpenGraph and Meta tags via SEOHead component, lazy-loaded routes, and lightweight SVG icons (Lucide React).</a:t>
            </a:r>
          </a:p>
        </p:txBody>
      </p:sp>
      <p:sp>
        <p:nvSpPr>
          <p:cNvPr id="21" name="Rounded Rectangle 20"/>
          <p:cNvSpPr/>
          <p:nvPr/>
        </p:nvSpPr>
        <p:spPr>
          <a:xfrm>
            <a:off x="731520" y="5623560"/>
            <a:ext cx="10728655" cy="566928"/>
          </a:xfrm>
          <a:prstGeom prst="roundRect">
            <a:avLst/>
          </a:prstGeom>
          <a:solidFill>
            <a:srgbClr val="FFEDD5"/>
          </a:solidFill>
          <a:ln w="1524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C2410C"/>
                </a:solidFill>
                <a:latin typeface="Segoe UI"/>
              </a:defRPr>
            </a:pPr>
            <a:r>
              <a:t>💡 Impact Summary: Rich, accessible user interface optimized for high engagement and cross-device speed.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2F8"/>
          </a:solidFill>
          <a:ln>
            <a:solidFill>
              <a:srgbClr val="FDF2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BE185D"/>
          </a:solidFill>
          <a:ln>
            <a:solidFill>
              <a:srgbClr val="BE1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327648"/>
            <a:ext cx="10728655" cy="18288"/>
          </a:xfrm>
          <a:prstGeom prst="rect">
            <a:avLst/>
          </a:prstGeom>
          <a:solidFill>
            <a:srgbClr val="FBCFE8"/>
          </a:solidFill>
          <a:ln>
            <a:solidFill>
              <a:srgbClr val="FBC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64224"/>
            <a:ext cx="7772400" cy="347472"/>
          </a:xfrm>
          <a:prstGeom prst="rect">
            <a:avLst/>
          </a:prstGeom>
          <a:noFill/>
        </p:spPr>
        <p:txBody>
          <a:bodyPr wrap="square">
            <a:spAutoFit/>
          </a:bodyPr>
          <a:lstStyle/>
          <a:p>
            <a:pPr>
              <a:defRPr sz="1000">
                <a:solidFill>
                  <a:srgbClr val="334155"/>
                </a:solidFill>
                <a:latin typeface="Segoe UI"/>
              </a:defRPr>
            </a:pPr>
            <a:r>
              <a:t>INTERNHUB  •  Full-Stack Internship &amp; Recruitment Platform  •  NRCM / CSE-E</a:t>
            </a:r>
          </a:p>
        </p:txBody>
      </p:sp>
      <p:sp>
        <p:nvSpPr>
          <p:cNvPr id="6" name="TextBox 5"/>
          <p:cNvSpPr txBox="1"/>
          <p:nvPr/>
        </p:nvSpPr>
        <p:spPr>
          <a:xfrm>
            <a:off x="9601200" y="6364224"/>
            <a:ext cx="1858975" cy="347472"/>
          </a:xfrm>
          <a:prstGeom prst="rect">
            <a:avLst/>
          </a:prstGeom>
          <a:noFill/>
        </p:spPr>
        <p:txBody>
          <a:bodyPr wrap="none">
            <a:spAutoFit/>
          </a:bodyPr>
          <a:lstStyle/>
          <a:p>
            <a:pPr algn="r">
              <a:defRPr sz="1050" b="1">
                <a:solidFill>
                  <a:srgbClr val="BE185D"/>
                </a:solidFill>
                <a:latin typeface="Segoe UI"/>
              </a:defRPr>
            </a:pPr>
            <a:r>
              <a:t>Slide 10 of 11</a:t>
            </a:r>
          </a:p>
        </p:txBody>
      </p:sp>
      <p:sp>
        <p:nvSpPr>
          <p:cNvPr id="7" name="Rounded Rectangle 6"/>
          <p:cNvSpPr/>
          <p:nvPr/>
        </p:nvSpPr>
        <p:spPr>
          <a:xfrm>
            <a:off x="731520" y="384048"/>
            <a:ext cx="1188720" cy="320040"/>
          </a:xfrm>
          <a:prstGeom prst="roundRect">
            <a:avLst/>
          </a:prstGeom>
          <a:solidFill>
            <a:srgbClr val="FCE7F3"/>
          </a:solidFill>
          <a:ln>
            <a:solidFill>
              <a:srgbClr val="FBC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BE185D"/>
                </a:solidFill>
                <a:latin typeface="Segoe UI"/>
              </a:defRPr>
            </a:pPr>
            <a:r>
              <a:t>SLIDE 10</a:t>
            </a:r>
          </a:p>
        </p:txBody>
      </p:sp>
      <p:sp>
        <p:nvSpPr>
          <p:cNvPr id="8" name="TextBox 7"/>
          <p:cNvSpPr txBox="1"/>
          <p:nvPr/>
        </p:nvSpPr>
        <p:spPr>
          <a:xfrm>
            <a:off x="2057400" y="292608"/>
            <a:ext cx="9326880" cy="777240"/>
          </a:xfrm>
          <a:prstGeom prst="rect">
            <a:avLst/>
          </a:prstGeom>
          <a:noFill/>
        </p:spPr>
        <p:txBody>
          <a:bodyPr wrap="square">
            <a:spAutoFit/>
          </a:bodyPr>
          <a:lstStyle/>
          <a:p>
            <a:pPr>
              <a:defRPr sz="2200" b="1">
                <a:solidFill>
                  <a:srgbClr val="BE185D"/>
                </a:solidFill>
                <a:latin typeface="Segoe UI"/>
              </a:defRPr>
            </a:pPr>
            <a:r>
              <a:t>Testing, Containerization &amp; Deployment</a:t>
            </a:r>
          </a:p>
          <a:p>
            <a:pPr>
              <a:spcBef>
                <a:spcPts val="200"/>
              </a:spcBef>
              <a:defRPr sz="1200">
                <a:solidFill>
                  <a:srgbClr val="334155"/>
                </a:solidFill>
                <a:latin typeface="Segoe UI"/>
              </a:defRPr>
            </a:pPr>
            <a:r>
              <a:t>Ensuring software reliability, reproducible environments, and continuous delivery</a:t>
            </a:r>
          </a:p>
        </p:txBody>
      </p:sp>
      <p:sp>
        <p:nvSpPr>
          <p:cNvPr id="9" name="Rounded Rectangle 8"/>
          <p:cNvSpPr/>
          <p:nvPr/>
        </p:nvSpPr>
        <p:spPr>
          <a:xfrm>
            <a:off x="731520" y="1188720"/>
            <a:ext cx="5230368" cy="621792"/>
          </a:xfrm>
          <a:prstGeom prst="roundRect">
            <a:avLst/>
          </a:prstGeom>
          <a:solidFill>
            <a:srgbClr val="BE185D"/>
          </a:solidFill>
          <a:ln w="1524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50" b="1">
                <a:solidFill>
                  <a:srgbClr val="FFFFFF"/>
                </a:solidFill>
                <a:latin typeface="Segoe UI"/>
              </a:defRPr>
            </a:pPr>
            <a:r>
              <a:t>Automated Testing &amp; QA</a:t>
            </a:r>
          </a:p>
        </p:txBody>
      </p:sp>
      <p:sp>
        <p:nvSpPr>
          <p:cNvPr id="10" name="Rounded Rectangle 9"/>
          <p:cNvSpPr/>
          <p:nvPr/>
        </p:nvSpPr>
        <p:spPr>
          <a:xfrm>
            <a:off x="731520" y="1883664"/>
            <a:ext cx="5230368" cy="841248"/>
          </a:xfrm>
          <a:prstGeom prst="roundRect">
            <a:avLst/>
          </a:prstGeom>
          <a:solidFill>
            <a:srgbClr val="FFFFFF"/>
          </a:solidFill>
          <a:ln w="15240">
            <a:solidFill>
              <a:srgbClr val="FBC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BE185D"/>
                </a:solidFill>
                <a:latin typeface="Segoe UI"/>
              </a:defRPr>
            </a:pPr>
            <a:r>
              <a:t>✔  Integration Testing</a:t>
            </a:r>
          </a:p>
          <a:p>
            <a:pPr>
              <a:spcBef>
                <a:spcPts val="200"/>
              </a:spcBef>
              <a:defRPr sz="1150">
                <a:solidFill>
                  <a:srgbClr val="334155"/>
                </a:solidFill>
                <a:latin typeface="Segoe UI"/>
              </a:defRPr>
            </a:pPr>
            <a:r>
              <a:t>Validates complete request-response lifecycles across all authentication &amp; job APIs</a:t>
            </a:r>
          </a:p>
        </p:txBody>
      </p:sp>
      <p:sp>
        <p:nvSpPr>
          <p:cNvPr id="11" name="Rounded Rectangle 10"/>
          <p:cNvSpPr/>
          <p:nvPr/>
        </p:nvSpPr>
        <p:spPr>
          <a:xfrm>
            <a:off x="731520" y="2807208"/>
            <a:ext cx="5230368" cy="841248"/>
          </a:xfrm>
          <a:prstGeom prst="roundRect">
            <a:avLst/>
          </a:prstGeom>
          <a:solidFill>
            <a:srgbClr val="FFFFFF"/>
          </a:solidFill>
          <a:ln w="15240">
            <a:solidFill>
              <a:srgbClr val="FBC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BE185D"/>
                </a:solidFill>
                <a:latin typeface="Segoe UI"/>
              </a:defRPr>
            </a:pPr>
            <a:r>
              <a:t>✔  End-to-End (E2E) Suites</a:t>
            </a:r>
          </a:p>
          <a:p>
            <a:pPr>
              <a:spcBef>
                <a:spcPts val="200"/>
              </a:spcBef>
              <a:defRPr sz="1150">
                <a:solidFill>
                  <a:srgbClr val="334155"/>
                </a:solidFill>
                <a:latin typeface="Segoe UI"/>
              </a:defRPr>
            </a:pPr>
            <a:r>
              <a:t>Simulates realistic student journeys: Registration ➔ Job Search ➔ Application</a:t>
            </a:r>
          </a:p>
        </p:txBody>
      </p:sp>
      <p:sp>
        <p:nvSpPr>
          <p:cNvPr id="12" name="Rounded Rectangle 11"/>
          <p:cNvSpPr/>
          <p:nvPr/>
        </p:nvSpPr>
        <p:spPr>
          <a:xfrm>
            <a:off x="731520" y="3730752"/>
            <a:ext cx="5230368" cy="841248"/>
          </a:xfrm>
          <a:prstGeom prst="roundRect">
            <a:avLst/>
          </a:prstGeom>
          <a:solidFill>
            <a:srgbClr val="FFFFFF"/>
          </a:solidFill>
          <a:ln w="15240">
            <a:solidFill>
              <a:srgbClr val="FBC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BE185D"/>
                </a:solidFill>
                <a:latin typeface="Segoe UI"/>
              </a:defRPr>
            </a:pPr>
            <a:r>
              <a:t>✔  Security Boundary Checks</a:t>
            </a:r>
          </a:p>
          <a:p>
            <a:pPr>
              <a:spcBef>
                <a:spcPts val="200"/>
              </a:spcBef>
              <a:defRPr sz="1150">
                <a:solidFill>
                  <a:srgbClr val="334155"/>
                </a:solidFill>
                <a:latin typeface="Segoe UI"/>
              </a:defRPr>
            </a:pPr>
            <a:r>
              <a:t>Tests expired tokens, unauthorized role escalations, and invalid payload handling</a:t>
            </a:r>
          </a:p>
        </p:txBody>
      </p:sp>
      <p:sp>
        <p:nvSpPr>
          <p:cNvPr id="13" name="Rounded Rectangle 12"/>
          <p:cNvSpPr/>
          <p:nvPr/>
        </p:nvSpPr>
        <p:spPr>
          <a:xfrm>
            <a:off x="731520" y="4654296"/>
            <a:ext cx="5230368" cy="841248"/>
          </a:xfrm>
          <a:prstGeom prst="roundRect">
            <a:avLst/>
          </a:prstGeom>
          <a:solidFill>
            <a:srgbClr val="FFFFFF"/>
          </a:solidFill>
          <a:ln w="15240">
            <a:solidFill>
              <a:srgbClr val="FBC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BE185D"/>
                </a:solidFill>
                <a:latin typeface="Segoe UI"/>
              </a:defRPr>
            </a:pPr>
            <a:r>
              <a:t>✔  Error Boundary Wrappers</a:t>
            </a:r>
          </a:p>
          <a:p>
            <a:pPr>
              <a:spcBef>
                <a:spcPts val="200"/>
              </a:spcBef>
              <a:defRPr sz="1150">
                <a:solidFill>
                  <a:srgbClr val="334155"/>
                </a:solidFill>
                <a:latin typeface="Segoe UI"/>
              </a:defRPr>
            </a:pPr>
            <a:r>
              <a:t>Prevents entire React client crashes by catching and displaying graceful UI fallbacks</a:t>
            </a:r>
          </a:p>
        </p:txBody>
      </p:sp>
      <p:sp>
        <p:nvSpPr>
          <p:cNvPr id="14" name="Rounded Rectangle 13"/>
          <p:cNvSpPr/>
          <p:nvPr/>
        </p:nvSpPr>
        <p:spPr>
          <a:xfrm>
            <a:off x="6227064" y="1188720"/>
            <a:ext cx="5230368" cy="621792"/>
          </a:xfrm>
          <a:prstGeom prst="roundRect">
            <a:avLst/>
          </a:prstGeom>
          <a:solidFill>
            <a:srgbClr val="BE185D"/>
          </a:solidFill>
          <a:ln w="1524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50" b="1">
                <a:solidFill>
                  <a:srgbClr val="FFFFFF"/>
                </a:solidFill>
                <a:latin typeface="Segoe UI"/>
              </a:defRPr>
            </a:pPr>
            <a:r>
              <a:t>DevOps &amp; Production Hosting</a:t>
            </a:r>
          </a:p>
        </p:txBody>
      </p:sp>
      <p:sp>
        <p:nvSpPr>
          <p:cNvPr id="15" name="Rounded Rectangle 14"/>
          <p:cNvSpPr/>
          <p:nvPr/>
        </p:nvSpPr>
        <p:spPr>
          <a:xfrm>
            <a:off x="6227064" y="1883664"/>
            <a:ext cx="5230368" cy="841248"/>
          </a:xfrm>
          <a:prstGeom prst="roundRect">
            <a:avLst/>
          </a:prstGeom>
          <a:solidFill>
            <a:srgbClr val="FFFFFF"/>
          </a:solidFill>
          <a:ln w="15240">
            <a:solidFill>
              <a:srgbClr val="FBC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BE185D"/>
                </a:solidFill>
                <a:latin typeface="Segoe UI"/>
              </a:defRPr>
            </a:pPr>
            <a:r>
              <a:t>✔  Docker &amp; Docker Compose</a:t>
            </a:r>
          </a:p>
          <a:p>
            <a:pPr>
              <a:spcBef>
                <a:spcPts val="200"/>
              </a:spcBef>
              <a:defRPr sz="1150">
                <a:solidFill>
                  <a:srgbClr val="334155"/>
                </a:solidFill>
                <a:latin typeface="Segoe UI"/>
              </a:defRPr>
            </a:pPr>
            <a:r>
              <a:t>Containerized microservices guaranteeing identical environments on dev and prod</a:t>
            </a:r>
          </a:p>
        </p:txBody>
      </p:sp>
      <p:sp>
        <p:nvSpPr>
          <p:cNvPr id="16" name="Rounded Rectangle 15"/>
          <p:cNvSpPr/>
          <p:nvPr/>
        </p:nvSpPr>
        <p:spPr>
          <a:xfrm>
            <a:off x="6227064" y="2807208"/>
            <a:ext cx="5230368" cy="841248"/>
          </a:xfrm>
          <a:prstGeom prst="roundRect">
            <a:avLst/>
          </a:prstGeom>
          <a:solidFill>
            <a:srgbClr val="FFFFFF"/>
          </a:solidFill>
          <a:ln w="15240">
            <a:solidFill>
              <a:srgbClr val="FBC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BE185D"/>
                </a:solidFill>
                <a:latin typeface="Segoe UI"/>
              </a:defRPr>
            </a:pPr>
            <a:r>
              <a:t>✔  Frontend Deployment</a:t>
            </a:r>
          </a:p>
          <a:p>
            <a:pPr>
              <a:spcBef>
                <a:spcPts val="200"/>
              </a:spcBef>
              <a:defRPr sz="1150">
                <a:solidFill>
                  <a:srgbClr val="334155"/>
                </a:solidFill>
                <a:latin typeface="Segoe UI"/>
              </a:defRPr>
            </a:pPr>
            <a:r>
              <a:t>Hosted on Netlify with automated continuous deployment and global CDN delivery</a:t>
            </a:r>
          </a:p>
        </p:txBody>
      </p:sp>
      <p:sp>
        <p:nvSpPr>
          <p:cNvPr id="17" name="Rounded Rectangle 16"/>
          <p:cNvSpPr/>
          <p:nvPr/>
        </p:nvSpPr>
        <p:spPr>
          <a:xfrm>
            <a:off x="6227064" y="3730752"/>
            <a:ext cx="5230368" cy="841248"/>
          </a:xfrm>
          <a:prstGeom prst="roundRect">
            <a:avLst/>
          </a:prstGeom>
          <a:solidFill>
            <a:srgbClr val="FFFFFF"/>
          </a:solidFill>
          <a:ln w="15240">
            <a:solidFill>
              <a:srgbClr val="FBC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BE185D"/>
                </a:solidFill>
                <a:latin typeface="Segoe UI"/>
              </a:defRPr>
            </a:pPr>
            <a:r>
              <a:t>✔  Backend Cloud Runtimes</a:t>
            </a:r>
          </a:p>
          <a:p>
            <a:pPr>
              <a:spcBef>
                <a:spcPts val="200"/>
              </a:spcBef>
              <a:defRPr sz="1150">
                <a:solidFill>
                  <a:srgbClr val="334155"/>
                </a:solidFill>
                <a:latin typeface="Segoe UI"/>
              </a:defRPr>
            </a:pPr>
            <a:r>
              <a:t>Express server deployed with isolated environment variables and auto-restarts</a:t>
            </a:r>
          </a:p>
        </p:txBody>
      </p:sp>
      <p:sp>
        <p:nvSpPr>
          <p:cNvPr id="18" name="Rounded Rectangle 17"/>
          <p:cNvSpPr/>
          <p:nvPr/>
        </p:nvSpPr>
        <p:spPr>
          <a:xfrm>
            <a:off x="6227064" y="4654296"/>
            <a:ext cx="5230368" cy="841248"/>
          </a:xfrm>
          <a:prstGeom prst="roundRect">
            <a:avLst/>
          </a:prstGeom>
          <a:solidFill>
            <a:srgbClr val="FFFFFF"/>
          </a:solidFill>
          <a:ln w="15240">
            <a:solidFill>
              <a:srgbClr val="FBC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BE185D"/>
                </a:solidFill>
                <a:latin typeface="Segoe UI"/>
              </a:defRPr>
            </a:pPr>
            <a:r>
              <a:t>✔  Database Cloud Cluster</a:t>
            </a:r>
          </a:p>
          <a:p>
            <a:pPr>
              <a:spcBef>
                <a:spcPts val="200"/>
              </a:spcBef>
              <a:defRPr sz="1150">
                <a:solidFill>
                  <a:srgbClr val="334155"/>
                </a:solidFill>
                <a:latin typeface="Segoe UI"/>
              </a:defRPr>
            </a:pPr>
            <a:r>
              <a:t>MongoDB Atlas replica set featuring automated daily backups and live monitoring</a:t>
            </a:r>
          </a:p>
        </p:txBody>
      </p:sp>
      <p:sp>
        <p:nvSpPr>
          <p:cNvPr id="19" name="Rounded Rectangle 18"/>
          <p:cNvSpPr/>
          <p:nvPr/>
        </p:nvSpPr>
        <p:spPr>
          <a:xfrm>
            <a:off x="731520" y="5623560"/>
            <a:ext cx="10728655" cy="566928"/>
          </a:xfrm>
          <a:prstGeom prst="roundRect">
            <a:avLst/>
          </a:prstGeom>
          <a:solidFill>
            <a:srgbClr val="FCE7F3"/>
          </a:solidFill>
          <a:ln w="15240">
            <a:solidFill>
              <a:srgbClr val="FBC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BE185D"/>
                </a:solidFill>
                <a:latin typeface="Segoe UI"/>
              </a:defRPr>
            </a:pPr>
            <a:r>
              <a:t>💡 Impact Summary: Dockerized architecture paired with automated testing ensures zero-downtime production deployment.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FEFF"/>
          </a:solidFill>
          <a:ln>
            <a:solidFill>
              <a:srgbClr val="ECF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327648"/>
            <a:ext cx="10728655" cy="18288"/>
          </a:xfrm>
          <a:prstGeom prst="rect">
            <a:avLst/>
          </a:prstGeom>
          <a:solidFill>
            <a:srgbClr val="A5F3FC"/>
          </a:solidFill>
          <a:ln>
            <a:solidFill>
              <a:srgbClr val="A5F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64224"/>
            <a:ext cx="7772400" cy="347472"/>
          </a:xfrm>
          <a:prstGeom prst="rect">
            <a:avLst/>
          </a:prstGeom>
          <a:noFill/>
        </p:spPr>
        <p:txBody>
          <a:bodyPr wrap="square">
            <a:spAutoFit/>
          </a:bodyPr>
          <a:lstStyle/>
          <a:p>
            <a:pPr>
              <a:defRPr sz="1000">
                <a:solidFill>
                  <a:srgbClr val="334155"/>
                </a:solidFill>
                <a:latin typeface="Segoe UI"/>
              </a:defRPr>
            </a:pPr>
            <a:r>
              <a:t>INTERNHUB  •  Full-Stack Internship &amp; Recruitment Platform  •  NRCM / CSE-E</a:t>
            </a:r>
          </a:p>
        </p:txBody>
      </p:sp>
      <p:sp>
        <p:nvSpPr>
          <p:cNvPr id="6" name="TextBox 5"/>
          <p:cNvSpPr txBox="1"/>
          <p:nvPr/>
        </p:nvSpPr>
        <p:spPr>
          <a:xfrm>
            <a:off x="9601200" y="6364224"/>
            <a:ext cx="1858975" cy="347472"/>
          </a:xfrm>
          <a:prstGeom prst="rect">
            <a:avLst/>
          </a:prstGeom>
          <a:noFill/>
        </p:spPr>
        <p:txBody>
          <a:bodyPr wrap="none">
            <a:spAutoFit/>
          </a:bodyPr>
          <a:lstStyle/>
          <a:p>
            <a:pPr algn="r">
              <a:defRPr sz="1050" b="1">
                <a:solidFill>
                  <a:srgbClr val="0E7490"/>
                </a:solidFill>
                <a:latin typeface="Segoe UI"/>
              </a:defRPr>
            </a:pPr>
            <a:r>
              <a:t>Slide 11 of 11</a:t>
            </a:r>
          </a:p>
        </p:txBody>
      </p:sp>
      <p:sp>
        <p:nvSpPr>
          <p:cNvPr id="7" name="Rounded Rectangle 6"/>
          <p:cNvSpPr/>
          <p:nvPr/>
        </p:nvSpPr>
        <p:spPr>
          <a:xfrm>
            <a:off x="731520" y="384048"/>
            <a:ext cx="1188720" cy="320040"/>
          </a:xfrm>
          <a:prstGeom prst="roundRect">
            <a:avLst/>
          </a:prstGeom>
          <a:solidFill>
            <a:srgbClr val="CFFAFE"/>
          </a:solidFill>
          <a:ln>
            <a:solidFill>
              <a:srgbClr val="A5F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E7490"/>
                </a:solidFill>
                <a:latin typeface="Segoe UI"/>
              </a:defRPr>
            </a:pPr>
            <a:r>
              <a:t>SLIDE 11</a:t>
            </a:r>
          </a:p>
        </p:txBody>
      </p:sp>
      <p:sp>
        <p:nvSpPr>
          <p:cNvPr id="8" name="TextBox 7"/>
          <p:cNvSpPr txBox="1"/>
          <p:nvPr/>
        </p:nvSpPr>
        <p:spPr>
          <a:xfrm>
            <a:off x="2057400" y="292608"/>
            <a:ext cx="9326880" cy="777240"/>
          </a:xfrm>
          <a:prstGeom prst="rect">
            <a:avLst/>
          </a:prstGeom>
          <a:noFill/>
        </p:spPr>
        <p:txBody>
          <a:bodyPr wrap="square">
            <a:spAutoFit/>
          </a:bodyPr>
          <a:lstStyle/>
          <a:p>
            <a:pPr>
              <a:defRPr sz="2200" b="1">
                <a:solidFill>
                  <a:srgbClr val="0E7490"/>
                </a:solidFill>
                <a:latin typeface="Segoe UI"/>
              </a:defRPr>
            </a:pPr>
            <a:r>
              <a:t>Future Scope &amp; Project Conclusion</a:t>
            </a:r>
          </a:p>
          <a:p>
            <a:pPr>
              <a:spcBef>
                <a:spcPts val="200"/>
              </a:spcBef>
              <a:defRPr sz="1200">
                <a:solidFill>
                  <a:srgbClr val="334155"/>
                </a:solidFill>
                <a:latin typeface="Segoe UI"/>
              </a:defRPr>
            </a:pPr>
            <a:r>
              <a:t>Strategic innovation roadmap and final summary of project achievements</a:t>
            </a:r>
          </a:p>
        </p:txBody>
      </p:sp>
      <p:sp>
        <p:nvSpPr>
          <p:cNvPr id="9" name="Rounded Rectangle 8"/>
          <p:cNvSpPr/>
          <p:nvPr/>
        </p:nvSpPr>
        <p:spPr>
          <a:xfrm>
            <a:off x="731520" y="1207008"/>
            <a:ext cx="5230368" cy="2084831"/>
          </a:xfrm>
          <a:prstGeom prst="roundRect">
            <a:avLst/>
          </a:prstGeom>
          <a:solidFill>
            <a:srgbClr val="FFFFFF"/>
          </a:solidFill>
          <a:ln w="19050">
            <a:solidFill>
              <a:srgbClr val="A5F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87552" y="1408176"/>
            <a:ext cx="530352" cy="347472"/>
          </a:xfrm>
          <a:prstGeom prst="roundRect">
            <a:avLst/>
          </a:prstGeom>
          <a:solidFill>
            <a:srgbClr val="CFFAFE"/>
          </a:solidFill>
          <a:ln>
            <a:solidFill>
              <a:srgbClr val="A5F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E7490"/>
                </a:solidFill>
                <a:latin typeface="Segoe UI"/>
              </a:defRPr>
            </a:pPr>
            <a:r>
              <a:t>01</a:t>
            </a:r>
          </a:p>
        </p:txBody>
      </p:sp>
      <p:sp>
        <p:nvSpPr>
          <p:cNvPr id="11" name="TextBox 10"/>
          <p:cNvSpPr txBox="1"/>
          <p:nvPr/>
        </p:nvSpPr>
        <p:spPr>
          <a:xfrm>
            <a:off x="1664208" y="1353312"/>
            <a:ext cx="4087368" cy="1856231"/>
          </a:xfrm>
          <a:prstGeom prst="rect">
            <a:avLst/>
          </a:prstGeom>
          <a:noFill/>
        </p:spPr>
        <p:txBody>
          <a:bodyPr wrap="square">
            <a:spAutoFit/>
          </a:bodyPr>
          <a:lstStyle/>
          <a:p>
            <a:pPr>
              <a:defRPr sz="1450" b="1">
                <a:solidFill>
                  <a:srgbClr val="0E7490"/>
                </a:solidFill>
                <a:latin typeface="Segoe UI"/>
              </a:defRPr>
            </a:pPr>
            <a:r>
              <a:t>AI-Powered Candidate Match</a:t>
            </a:r>
          </a:p>
          <a:p>
            <a:pPr>
              <a:spcBef>
                <a:spcPts val="600"/>
              </a:spcBef>
              <a:defRPr sz="1250">
                <a:solidFill>
                  <a:srgbClr val="334155"/>
                </a:solidFill>
                <a:latin typeface="Segoe UI"/>
              </a:defRPr>
            </a:pPr>
            <a:r>
              <a:t>Machine learning algorithms to automatically parse student resumes, calculate skill match scores, and recommend optimal internships.</a:t>
            </a:r>
          </a:p>
        </p:txBody>
      </p:sp>
      <p:sp>
        <p:nvSpPr>
          <p:cNvPr id="12" name="Rounded Rectangle 11"/>
          <p:cNvSpPr/>
          <p:nvPr/>
        </p:nvSpPr>
        <p:spPr>
          <a:xfrm>
            <a:off x="6227064" y="1207008"/>
            <a:ext cx="5230368" cy="2084831"/>
          </a:xfrm>
          <a:prstGeom prst="roundRect">
            <a:avLst/>
          </a:prstGeom>
          <a:solidFill>
            <a:srgbClr val="FFFFFF"/>
          </a:solidFill>
          <a:ln w="19050">
            <a:solidFill>
              <a:srgbClr val="A5F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83096" y="1408176"/>
            <a:ext cx="530352" cy="347472"/>
          </a:xfrm>
          <a:prstGeom prst="roundRect">
            <a:avLst/>
          </a:prstGeom>
          <a:solidFill>
            <a:srgbClr val="CFFAFE"/>
          </a:solidFill>
          <a:ln>
            <a:solidFill>
              <a:srgbClr val="A5F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E7490"/>
                </a:solidFill>
                <a:latin typeface="Segoe UI"/>
              </a:defRPr>
            </a:pPr>
            <a:r>
              <a:t>02</a:t>
            </a:r>
          </a:p>
        </p:txBody>
      </p:sp>
      <p:sp>
        <p:nvSpPr>
          <p:cNvPr id="14" name="TextBox 13"/>
          <p:cNvSpPr txBox="1"/>
          <p:nvPr/>
        </p:nvSpPr>
        <p:spPr>
          <a:xfrm>
            <a:off x="7159752" y="1353312"/>
            <a:ext cx="4087368" cy="1856231"/>
          </a:xfrm>
          <a:prstGeom prst="rect">
            <a:avLst/>
          </a:prstGeom>
          <a:noFill/>
        </p:spPr>
        <p:txBody>
          <a:bodyPr wrap="square">
            <a:spAutoFit/>
          </a:bodyPr>
          <a:lstStyle/>
          <a:p>
            <a:pPr>
              <a:defRPr sz="1450" b="1">
                <a:solidFill>
                  <a:srgbClr val="0E7490"/>
                </a:solidFill>
                <a:latin typeface="Segoe UI"/>
              </a:defRPr>
            </a:pPr>
            <a:r>
              <a:t>In-App Real-Time Communication</a:t>
            </a:r>
          </a:p>
          <a:p>
            <a:pPr>
              <a:spcBef>
                <a:spcPts val="600"/>
              </a:spcBef>
              <a:defRPr sz="1250">
                <a:solidFill>
                  <a:srgbClr val="334155"/>
                </a:solidFill>
                <a:latin typeface="Segoe UI"/>
              </a:defRPr>
            </a:pPr>
            <a:r>
              <a:t>Integrated WebRTC chat and virtual interview scheduling directly within the recruiter evaluation board.</a:t>
            </a:r>
          </a:p>
        </p:txBody>
      </p:sp>
      <p:sp>
        <p:nvSpPr>
          <p:cNvPr id="15" name="Rounded Rectangle 14"/>
          <p:cNvSpPr/>
          <p:nvPr/>
        </p:nvSpPr>
        <p:spPr>
          <a:xfrm>
            <a:off x="731520" y="3401568"/>
            <a:ext cx="5230368" cy="2084831"/>
          </a:xfrm>
          <a:prstGeom prst="roundRect">
            <a:avLst/>
          </a:prstGeom>
          <a:solidFill>
            <a:srgbClr val="FFFFFF"/>
          </a:solidFill>
          <a:ln w="19050">
            <a:solidFill>
              <a:srgbClr val="A5F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87552" y="3602736"/>
            <a:ext cx="530352" cy="347472"/>
          </a:xfrm>
          <a:prstGeom prst="roundRect">
            <a:avLst/>
          </a:prstGeom>
          <a:solidFill>
            <a:srgbClr val="CFFAFE"/>
          </a:solidFill>
          <a:ln>
            <a:solidFill>
              <a:srgbClr val="A5F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E7490"/>
                </a:solidFill>
                <a:latin typeface="Segoe UI"/>
              </a:defRPr>
            </a:pPr>
            <a:r>
              <a:t>03</a:t>
            </a:r>
          </a:p>
        </p:txBody>
      </p:sp>
      <p:sp>
        <p:nvSpPr>
          <p:cNvPr id="17" name="TextBox 16"/>
          <p:cNvSpPr txBox="1"/>
          <p:nvPr/>
        </p:nvSpPr>
        <p:spPr>
          <a:xfrm>
            <a:off x="1664208" y="3547872"/>
            <a:ext cx="4087368" cy="1856231"/>
          </a:xfrm>
          <a:prstGeom prst="rect">
            <a:avLst/>
          </a:prstGeom>
          <a:noFill/>
        </p:spPr>
        <p:txBody>
          <a:bodyPr wrap="square">
            <a:spAutoFit/>
          </a:bodyPr>
          <a:lstStyle/>
          <a:p>
            <a:pPr>
              <a:defRPr sz="1450" b="1">
                <a:solidFill>
                  <a:srgbClr val="0E7490"/>
                </a:solidFill>
                <a:latin typeface="Segoe UI"/>
              </a:defRPr>
            </a:pPr>
            <a:r>
              <a:t>Cross-Platform Mobile App</a:t>
            </a:r>
          </a:p>
          <a:p>
            <a:pPr>
              <a:spcBef>
                <a:spcPts val="600"/>
              </a:spcBef>
              <a:defRPr sz="1250">
                <a:solidFill>
                  <a:srgbClr val="334155"/>
                </a:solidFill>
                <a:latin typeface="Segoe UI"/>
              </a:defRPr>
            </a:pPr>
            <a:r>
              <a:t>React Native mobile companion app for iOS and Android with push notifications for instant status changes.</a:t>
            </a:r>
          </a:p>
        </p:txBody>
      </p:sp>
      <p:sp>
        <p:nvSpPr>
          <p:cNvPr id="18" name="Rounded Rectangle 17"/>
          <p:cNvSpPr/>
          <p:nvPr/>
        </p:nvSpPr>
        <p:spPr>
          <a:xfrm>
            <a:off x="6227064" y="3401568"/>
            <a:ext cx="5230368" cy="2084831"/>
          </a:xfrm>
          <a:prstGeom prst="roundRect">
            <a:avLst/>
          </a:prstGeom>
          <a:solidFill>
            <a:srgbClr val="FFFFFF"/>
          </a:solidFill>
          <a:ln w="19050">
            <a:solidFill>
              <a:srgbClr val="A5F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83096" y="3602736"/>
            <a:ext cx="530352" cy="347472"/>
          </a:xfrm>
          <a:prstGeom prst="roundRect">
            <a:avLst/>
          </a:prstGeom>
          <a:solidFill>
            <a:srgbClr val="CFFAFE"/>
          </a:solidFill>
          <a:ln>
            <a:solidFill>
              <a:srgbClr val="A5F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E7490"/>
                </a:solidFill>
                <a:latin typeface="Segoe UI"/>
              </a:defRPr>
            </a:pPr>
            <a:r>
              <a:t>04</a:t>
            </a:r>
          </a:p>
        </p:txBody>
      </p:sp>
      <p:sp>
        <p:nvSpPr>
          <p:cNvPr id="20" name="TextBox 19"/>
          <p:cNvSpPr txBox="1"/>
          <p:nvPr/>
        </p:nvSpPr>
        <p:spPr>
          <a:xfrm>
            <a:off x="7159752" y="3547872"/>
            <a:ext cx="4087368" cy="1856231"/>
          </a:xfrm>
          <a:prstGeom prst="rect">
            <a:avLst/>
          </a:prstGeom>
          <a:noFill/>
        </p:spPr>
        <p:txBody>
          <a:bodyPr wrap="square">
            <a:spAutoFit/>
          </a:bodyPr>
          <a:lstStyle/>
          <a:p>
            <a:pPr>
              <a:defRPr sz="1450" b="1">
                <a:solidFill>
                  <a:srgbClr val="0E7490"/>
                </a:solidFill>
                <a:latin typeface="Segoe UI"/>
              </a:defRPr>
            </a:pPr>
            <a:r>
              <a:t>Project Conclusion</a:t>
            </a:r>
          </a:p>
          <a:p>
            <a:pPr>
              <a:spcBef>
                <a:spcPts val="600"/>
              </a:spcBef>
              <a:defRPr sz="1250">
                <a:solidFill>
                  <a:srgbClr val="334155"/>
                </a:solidFill>
                <a:latin typeface="Segoe UI"/>
              </a:defRPr>
            </a:pPr>
            <a:r>
              <a:t>InternHub successfully bridges the gap between students and recruiters through a modern, secure, and transparent recruitment platform.</a:t>
            </a:r>
          </a:p>
        </p:txBody>
      </p:sp>
      <p:sp>
        <p:nvSpPr>
          <p:cNvPr id="21" name="Rounded Rectangle 20"/>
          <p:cNvSpPr/>
          <p:nvPr/>
        </p:nvSpPr>
        <p:spPr>
          <a:xfrm>
            <a:off x="731520" y="5623560"/>
            <a:ext cx="10728655" cy="566928"/>
          </a:xfrm>
          <a:prstGeom prst="roundRect">
            <a:avLst/>
          </a:prstGeom>
          <a:solidFill>
            <a:srgbClr val="CFFAFE"/>
          </a:solidFill>
          <a:ln w="15240">
            <a:solidFill>
              <a:srgbClr val="A5F3F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E7490"/>
                </a:solidFill>
                <a:latin typeface="Segoe UI"/>
              </a:defRPr>
            </a:pPr>
            <a:r>
              <a:t>💡 Impact Summary: InternHub modernizes university hiring, providing a scalable blueprint for campus placements.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